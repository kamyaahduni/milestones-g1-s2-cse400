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2192000" cy="6858000"/>
  <p:notesSz cx="6858000" cy="9144000"/>
  <p:embeddedFontLst>
    <p:embeddedFont>
      <p:font typeface="Helvetica Neue" panose="02000503000000020004"/>
      <p:regular r:id="rId19"/>
    </p:embeddedFont>
    <p:embeddedFont>
      <p:font typeface="Helvetica Neue Light" panose="02000503000000020004"/>
      <p:regular r:id="rId20"/>
    </p:embeddedFont>
    <p:embeddedFont>
      <p:font typeface="DejaVu Math TeX Gyre" panose="02000503000000000000" charset="0"/>
      <p:regular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90" d="100"/>
          <a:sy n="90" d="100"/>
        </p:scale>
        <p:origin x="147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font" Target="fonts/font3.fntdata"/><Relationship Id="rId20" Type="http://schemas.openxmlformats.org/officeDocument/2006/relationships/font" Target="fonts/font2.fntdata"/><Relationship Id="rId2" Type="http://schemas.openxmlformats.org/officeDocument/2006/relationships/theme" Target="theme/theme1.xml"/><Relationship Id="rId19" Type="http://schemas.openxmlformats.org/officeDocument/2006/relationships/font" Target="fonts/font1.fntdata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7" name="Google Shape;8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3" name="Google Shape;9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1" name="Google Shape;10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bccc3b655c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bccc3b655c_0_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0" name="Google Shape;110;g3bccc3b655c_0_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90204"/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bccc3b655c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bccc3b655c_0_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8" name="Google Shape;118;g3bccc3b655c_0_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90204"/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bccc3b655c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bccc3b655c_0_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6" name="Google Shape;126;g3bccc3b655c_0_3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90204"/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bccc3b655c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bccc3b655c_0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4" name="Google Shape;134;g3bccc3b655c_0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90204"/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bccc3b655c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bccc3b655c_0_6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2" name="Google Shape;142;g3bccc3b655c_0_6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90204"/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bccc3b655c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bccc3b655c_0_4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50" name="Google Shape;150;g3bccc3b655c_0_4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90204"/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bccc3b655c_0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bccc3b655c_0_7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58" name="Google Shape;158;g3bccc3b655c_0_7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90204"/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bccc3b655c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bccc3b655c_0_7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66" name="Google Shape;166;g3bccc3b655c_0_7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90204"/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bccc3b655c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bccc3b655c_0_8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74" name="Google Shape;174;g3bccc3b655c_0_8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90204"/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bg>
      <p:bgPr>
        <a:solidFill>
          <a:schemeClr val="lt2"/>
        </a:solid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"/>
          <p:cNvSpPr txBox="1">
            <a:spLocks noGrp="1"/>
          </p:cNvSpPr>
          <p:nvPr>
            <p:ph type="body" idx="1"/>
          </p:nvPr>
        </p:nvSpPr>
        <p:spPr>
          <a:xfrm>
            <a:off x="844150" y="4710224"/>
            <a:ext cx="10515601" cy="552037"/>
          </a:xfrm>
          <a:prstGeom prst="rect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4848"/>
              </a:buClr>
              <a:buSzPts val="2000"/>
              <a:buFont typeface="Helvetica Neue Light" panose="02000503000000020004"/>
              <a:buNone/>
              <a:defRPr sz="2000" b="0" i="0">
                <a:solidFill>
                  <a:srgbClr val="444848"/>
                </a:solidFill>
                <a:latin typeface="Helvetica Neue Light" panose="02000503000000020004"/>
                <a:ea typeface="Helvetica Neue Light" panose="02000503000000020004"/>
                <a:cs typeface="Helvetica Neue Light" panose="02000503000000020004"/>
                <a:sym typeface="Helvetica Neue Light" panose="02000503000000020004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20" name="Google Shape;20;p2"/>
          <p:cNvPicPr preferRelativeResize="0"/>
          <p:nvPr/>
        </p:nvPicPr>
        <p:blipFill rotWithShape="1">
          <a:blip r:embed="rId2"/>
          <a:srcRect l="31991" t="42025" r="32034" b="42109"/>
          <a:stretch>
            <a:fillRect/>
          </a:stretch>
        </p:blipFill>
        <p:spPr>
          <a:xfrm>
            <a:off x="7430948" y="751519"/>
            <a:ext cx="3928803" cy="1333239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2"/>
          <p:cNvSpPr txBox="1">
            <a:spLocks noGrp="1"/>
          </p:cNvSpPr>
          <p:nvPr>
            <p:ph type="body" idx="2"/>
          </p:nvPr>
        </p:nvSpPr>
        <p:spPr>
          <a:xfrm>
            <a:off x="844150" y="3784993"/>
            <a:ext cx="10516000" cy="9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Helvetica Neue" panose="02000503000000020004"/>
              <a:buNone/>
              <a:defRPr sz="4400" b="1" i="0">
                <a:solidFill>
                  <a:schemeClr val="dk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  <a:sym typeface="Helvetica Neue" panose="02000503000000020004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Helvetica Neue" panose="02000503000000020004"/>
              <a:buNone/>
              <a:defRPr sz="3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Helvetica Neue Light" panose="02000503000000020004"/>
              <a:buNone/>
              <a:defRPr sz="2000" b="0" i="0">
                <a:solidFill>
                  <a:srgbClr val="888888"/>
                </a:solidFill>
                <a:latin typeface="Helvetica Neue Light" panose="02000503000000020004"/>
                <a:ea typeface="Helvetica Neue Light" panose="02000503000000020004"/>
                <a:cs typeface="Helvetica Neue Light" panose="02000503000000020004"/>
                <a:sym typeface="Helvetica Neue Light" panose="02000503000000020004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Helvetica Neue Light" panose="02000503000000020004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Helvetica Neue Light" panose="02000503000000020004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Helvetica Neue Light" panose="02000503000000020004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Helvetica Neue Light" panose="02000503000000020004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5" name="Google Shape;25;p3"/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 panose="02000503000000020004"/>
                <a:ea typeface="Helvetica Neue Light" panose="02000503000000020004"/>
                <a:cs typeface="Helvetica Neue Light" panose="02000503000000020004"/>
                <a:sym typeface="Helvetica Neue Light" panose="02000503000000020004"/>
              </a:defRPr>
            </a:lvl1pPr>
            <a:lvl2pPr marL="0" lvl="1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 panose="02000503000000020004"/>
                <a:ea typeface="Helvetica Neue Light" panose="02000503000000020004"/>
                <a:cs typeface="Helvetica Neue Light" panose="02000503000000020004"/>
                <a:sym typeface="Helvetica Neue Light" panose="02000503000000020004"/>
              </a:defRPr>
            </a:lvl2pPr>
            <a:lvl3pPr marL="0" lvl="2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 panose="02000503000000020004"/>
                <a:ea typeface="Helvetica Neue Light" panose="02000503000000020004"/>
                <a:cs typeface="Helvetica Neue Light" panose="02000503000000020004"/>
                <a:sym typeface="Helvetica Neue Light" panose="02000503000000020004"/>
              </a:defRPr>
            </a:lvl3pPr>
            <a:lvl4pPr marL="0" lvl="3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 panose="02000503000000020004"/>
                <a:ea typeface="Helvetica Neue Light" panose="02000503000000020004"/>
                <a:cs typeface="Helvetica Neue Light" panose="02000503000000020004"/>
                <a:sym typeface="Helvetica Neue Light" panose="02000503000000020004"/>
              </a:defRPr>
            </a:lvl4pPr>
            <a:lvl5pPr marL="0" lvl="4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 panose="02000503000000020004"/>
                <a:ea typeface="Helvetica Neue Light" panose="02000503000000020004"/>
                <a:cs typeface="Helvetica Neue Light" panose="02000503000000020004"/>
                <a:sym typeface="Helvetica Neue Light" panose="02000503000000020004"/>
              </a:defRPr>
            </a:lvl5pPr>
            <a:lvl6pPr marL="0" lvl="5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 panose="02000503000000020004"/>
                <a:ea typeface="Helvetica Neue Light" panose="02000503000000020004"/>
                <a:cs typeface="Helvetica Neue Light" panose="02000503000000020004"/>
                <a:sym typeface="Helvetica Neue Light" panose="02000503000000020004"/>
              </a:defRPr>
            </a:lvl6pPr>
            <a:lvl7pPr marL="0" lvl="6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 panose="02000503000000020004"/>
                <a:ea typeface="Helvetica Neue Light" panose="02000503000000020004"/>
                <a:cs typeface="Helvetica Neue Light" panose="02000503000000020004"/>
                <a:sym typeface="Helvetica Neue Light" panose="02000503000000020004"/>
              </a:defRPr>
            </a:lvl7pPr>
            <a:lvl8pPr marL="0" lvl="7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 panose="02000503000000020004"/>
                <a:ea typeface="Helvetica Neue Light" panose="02000503000000020004"/>
                <a:cs typeface="Helvetica Neue Light" panose="02000503000000020004"/>
                <a:sym typeface="Helvetica Neue Light" panose="02000503000000020004"/>
              </a:defRPr>
            </a:lvl8pPr>
            <a:lvl9pPr marL="0" lvl="8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 panose="02000503000000020004"/>
                <a:ea typeface="Helvetica Neue Light" panose="02000503000000020004"/>
                <a:cs typeface="Helvetica Neue Light" panose="02000503000000020004"/>
                <a:sym typeface="Helvetica Neue Light" panose="020005030000000200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lang="en-US" b="0"/>
              <a:t>  </a:t>
            </a:r>
            <a:fld id="{00000000-1234-1234-1234-123412341234}" type="slidenum">
              <a:rPr lang="en-US" b="0"/>
            </a:fld>
            <a:endParaRPr b="0"/>
          </a:p>
        </p:txBody>
      </p:sp>
      <p:sp>
        <p:nvSpPr>
          <p:cNvPr id="26" name="Google Shape;26;p3"/>
          <p:cNvSpPr txBox="1">
            <a:spLocks noGrp="1"/>
          </p:cNvSpPr>
          <p:nvPr>
            <p:ph type="dt" idx="10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>
                <a:solidFill>
                  <a:srgbClr val="7F7F7F"/>
                </a:solidFill>
                <a:latin typeface="Helvetica Neue Light" panose="02000503000000020004"/>
                <a:ea typeface="Helvetica Neue Light" panose="02000503000000020004"/>
                <a:cs typeface="Helvetica Neue Light" panose="02000503000000020004"/>
                <a:sym typeface="Helvetica Neue Light" panose="02000503000000020004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 rotWithShape="1">
          <a:blip r:embed="rId2"/>
          <a:srcRect l="29654" t="38312" r="29480" b="38397"/>
          <a:stretch>
            <a:fillRect/>
          </a:stretch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 and Content">
  <p:cSld name="OBJEC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 txBox="1">
            <a:spLocks noGrp="1"/>
          </p:cNvSpPr>
          <p:nvPr>
            <p:ph type="title"/>
          </p:nvPr>
        </p:nvSpPr>
        <p:spPr>
          <a:xfrm>
            <a:off x="594303" y="26670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 panose="02000503000000020004"/>
              <a:buNone/>
              <a:defRPr sz="4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>
            <a:spLocks noGrp="1"/>
          </p:cNvSpPr>
          <p:nvPr>
            <p:ph type="body" idx="1"/>
          </p:nvPr>
        </p:nvSpPr>
        <p:spPr>
          <a:xfrm>
            <a:off x="582427" y="1768950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 panose="02000503000000020004"/>
              <a:buChar char="•"/>
              <a:defRPr sz="2400"/>
            </a:lvl1pPr>
            <a:lvl2pPr marL="914400" lvl="1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 panose="02000503000000020004"/>
              <a:buChar char="•"/>
              <a:defRPr sz="2000"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 panose="02000503000000020004"/>
              <a:buChar char="•"/>
              <a:defRPr sz="1800"/>
            </a:lvl3pPr>
            <a:lvl4pPr marL="1828800" lvl="3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 panose="02000503000000020004"/>
              <a:buChar char="•"/>
              <a:defRPr sz="1600"/>
            </a:lvl4pPr>
            <a:lvl5pPr marL="2286000" lvl="4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 panose="02000503000000020004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4"/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 panose="02000503000000020004"/>
                <a:ea typeface="Helvetica Neue Light" panose="02000503000000020004"/>
                <a:cs typeface="Helvetica Neue Light" panose="02000503000000020004"/>
                <a:sym typeface="Helvetica Neue Light" panose="02000503000000020004"/>
              </a:defRPr>
            </a:lvl1pPr>
            <a:lvl2pPr marL="0" lvl="1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 panose="02000503000000020004"/>
                <a:ea typeface="Helvetica Neue Light" panose="02000503000000020004"/>
                <a:cs typeface="Helvetica Neue Light" panose="02000503000000020004"/>
                <a:sym typeface="Helvetica Neue Light" panose="02000503000000020004"/>
              </a:defRPr>
            </a:lvl2pPr>
            <a:lvl3pPr marL="0" lvl="2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 panose="02000503000000020004"/>
                <a:ea typeface="Helvetica Neue Light" panose="02000503000000020004"/>
                <a:cs typeface="Helvetica Neue Light" panose="02000503000000020004"/>
                <a:sym typeface="Helvetica Neue Light" panose="02000503000000020004"/>
              </a:defRPr>
            </a:lvl3pPr>
            <a:lvl4pPr marL="0" lvl="3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 panose="02000503000000020004"/>
                <a:ea typeface="Helvetica Neue Light" panose="02000503000000020004"/>
                <a:cs typeface="Helvetica Neue Light" panose="02000503000000020004"/>
                <a:sym typeface="Helvetica Neue Light" panose="02000503000000020004"/>
              </a:defRPr>
            </a:lvl4pPr>
            <a:lvl5pPr marL="0" lvl="4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 panose="02000503000000020004"/>
                <a:ea typeface="Helvetica Neue Light" panose="02000503000000020004"/>
                <a:cs typeface="Helvetica Neue Light" panose="02000503000000020004"/>
                <a:sym typeface="Helvetica Neue Light" panose="02000503000000020004"/>
              </a:defRPr>
            </a:lvl5pPr>
            <a:lvl6pPr marL="0" lvl="5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 panose="02000503000000020004"/>
                <a:ea typeface="Helvetica Neue Light" panose="02000503000000020004"/>
                <a:cs typeface="Helvetica Neue Light" panose="02000503000000020004"/>
                <a:sym typeface="Helvetica Neue Light" panose="02000503000000020004"/>
              </a:defRPr>
            </a:lvl6pPr>
            <a:lvl7pPr marL="0" lvl="6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 panose="02000503000000020004"/>
                <a:ea typeface="Helvetica Neue Light" panose="02000503000000020004"/>
                <a:cs typeface="Helvetica Neue Light" panose="02000503000000020004"/>
                <a:sym typeface="Helvetica Neue Light" panose="02000503000000020004"/>
              </a:defRPr>
            </a:lvl7pPr>
            <a:lvl8pPr marL="0" lvl="7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 panose="02000503000000020004"/>
                <a:ea typeface="Helvetica Neue Light" panose="02000503000000020004"/>
                <a:cs typeface="Helvetica Neue Light" panose="02000503000000020004"/>
                <a:sym typeface="Helvetica Neue Light" panose="02000503000000020004"/>
              </a:defRPr>
            </a:lvl8pPr>
            <a:lvl9pPr marL="0" lvl="8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 panose="02000503000000020004"/>
                <a:ea typeface="Helvetica Neue Light" panose="02000503000000020004"/>
                <a:cs typeface="Helvetica Neue Light" panose="02000503000000020004"/>
                <a:sym typeface="Helvetica Neue Light" panose="020005030000000200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lang="en-US" b="0"/>
              <a:t>  </a:t>
            </a:r>
            <a:fld id="{00000000-1234-1234-1234-123412341234}" type="slidenum">
              <a:rPr lang="en-US" b="0"/>
            </a:fld>
            <a:endParaRPr b="0"/>
          </a:p>
        </p:txBody>
      </p:sp>
      <p:sp>
        <p:nvSpPr>
          <p:cNvPr id="32" name="Google Shape;32;p4"/>
          <p:cNvSpPr txBox="1">
            <a:spLocks noGrp="1"/>
          </p:cNvSpPr>
          <p:nvPr>
            <p:ph type="dt" idx="10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>
                <a:solidFill>
                  <a:srgbClr val="7F7F7F"/>
                </a:solidFill>
                <a:latin typeface="Helvetica Neue Light" panose="02000503000000020004"/>
                <a:ea typeface="Helvetica Neue Light" panose="02000503000000020004"/>
                <a:cs typeface="Helvetica Neue Light" panose="02000503000000020004"/>
                <a:sym typeface="Helvetica Neue Light" panose="02000503000000020004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3" name="Google Shape;33;p4"/>
          <p:cNvPicPr preferRelativeResize="0"/>
          <p:nvPr/>
        </p:nvPicPr>
        <p:blipFill rotWithShape="1">
          <a:blip r:embed="rId2"/>
          <a:srcRect l="29654" t="38312" r="29480" b="38397"/>
          <a:stretch>
            <a:fillRect/>
          </a:stretch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Two Content">
  <p:cSld name="TWO_OBJECT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5"/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 panose="02000503000000020004"/>
                <a:ea typeface="Helvetica Neue Light" panose="02000503000000020004"/>
                <a:cs typeface="Helvetica Neue Light" panose="02000503000000020004"/>
                <a:sym typeface="Helvetica Neue Light" panose="02000503000000020004"/>
              </a:defRPr>
            </a:lvl1pPr>
            <a:lvl2pPr marL="0" lvl="1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 panose="02000503000000020004"/>
                <a:ea typeface="Helvetica Neue Light" panose="02000503000000020004"/>
                <a:cs typeface="Helvetica Neue Light" panose="02000503000000020004"/>
                <a:sym typeface="Helvetica Neue Light" panose="02000503000000020004"/>
              </a:defRPr>
            </a:lvl2pPr>
            <a:lvl3pPr marL="0" lvl="2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 panose="02000503000000020004"/>
                <a:ea typeface="Helvetica Neue Light" panose="02000503000000020004"/>
                <a:cs typeface="Helvetica Neue Light" panose="02000503000000020004"/>
                <a:sym typeface="Helvetica Neue Light" panose="02000503000000020004"/>
              </a:defRPr>
            </a:lvl3pPr>
            <a:lvl4pPr marL="0" lvl="3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 panose="02000503000000020004"/>
                <a:ea typeface="Helvetica Neue Light" panose="02000503000000020004"/>
                <a:cs typeface="Helvetica Neue Light" panose="02000503000000020004"/>
                <a:sym typeface="Helvetica Neue Light" panose="02000503000000020004"/>
              </a:defRPr>
            </a:lvl4pPr>
            <a:lvl5pPr marL="0" lvl="4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 panose="02000503000000020004"/>
                <a:ea typeface="Helvetica Neue Light" panose="02000503000000020004"/>
                <a:cs typeface="Helvetica Neue Light" panose="02000503000000020004"/>
                <a:sym typeface="Helvetica Neue Light" panose="02000503000000020004"/>
              </a:defRPr>
            </a:lvl5pPr>
            <a:lvl6pPr marL="0" lvl="5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 panose="02000503000000020004"/>
                <a:ea typeface="Helvetica Neue Light" panose="02000503000000020004"/>
                <a:cs typeface="Helvetica Neue Light" panose="02000503000000020004"/>
                <a:sym typeface="Helvetica Neue Light" panose="02000503000000020004"/>
              </a:defRPr>
            </a:lvl6pPr>
            <a:lvl7pPr marL="0" lvl="6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 panose="02000503000000020004"/>
                <a:ea typeface="Helvetica Neue Light" panose="02000503000000020004"/>
                <a:cs typeface="Helvetica Neue Light" panose="02000503000000020004"/>
                <a:sym typeface="Helvetica Neue Light" panose="02000503000000020004"/>
              </a:defRPr>
            </a:lvl7pPr>
            <a:lvl8pPr marL="0" lvl="7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 panose="02000503000000020004"/>
                <a:ea typeface="Helvetica Neue Light" panose="02000503000000020004"/>
                <a:cs typeface="Helvetica Neue Light" panose="02000503000000020004"/>
                <a:sym typeface="Helvetica Neue Light" panose="02000503000000020004"/>
              </a:defRPr>
            </a:lvl8pPr>
            <a:lvl9pPr marL="0" lvl="8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 panose="02000503000000020004"/>
                <a:ea typeface="Helvetica Neue Light" panose="02000503000000020004"/>
                <a:cs typeface="Helvetica Neue Light" panose="02000503000000020004"/>
                <a:sym typeface="Helvetica Neue Light" panose="020005030000000200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lang="en-US" b="0"/>
              <a:t>  </a:t>
            </a:r>
            <a:fld id="{00000000-1234-1234-1234-123412341234}" type="slidenum">
              <a:rPr lang="en-US" b="0"/>
            </a:fld>
            <a:endParaRPr b="0"/>
          </a:p>
        </p:txBody>
      </p:sp>
      <p:sp>
        <p:nvSpPr>
          <p:cNvPr id="39" name="Google Shape;39;p5"/>
          <p:cNvSpPr txBox="1">
            <a:spLocks noGrp="1"/>
          </p:cNvSpPr>
          <p:nvPr>
            <p:ph type="dt" idx="10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>
                <a:solidFill>
                  <a:srgbClr val="7F7F7F"/>
                </a:solidFill>
                <a:latin typeface="Helvetica Neue Light" panose="02000503000000020004"/>
                <a:ea typeface="Helvetica Neue Light" panose="02000503000000020004"/>
                <a:cs typeface="Helvetica Neue Light" panose="02000503000000020004"/>
                <a:sym typeface="Helvetica Neue Light" panose="02000503000000020004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0" name="Google Shape;40;p5"/>
          <p:cNvPicPr preferRelativeResize="0"/>
          <p:nvPr/>
        </p:nvPicPr>
        <p:blipFill rotWithShape="1">
          <a:blip r:embed="rId2"/>
          <a:srcRect l="29654" t="38312" r="29480" b="38397"/>
          <a:stretch>
            <a:fillRect/>
          </a:stretch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Comparison">
  <p:cSld name="TWO_OBJECTS_WITH_TEX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 panose="02000503000000020004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 panose="02000503000000020004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 panose="02000503000000020004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 panose="02000503000000020004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 panose="02000503000000020004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4" name="Google Shape;44;p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 panose="02000503000000020004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 panose="02000503000000020004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 panose="02000503000000020004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 panose="02000503000000020004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 panose="02000503000000020004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6" name="Google Shape;46;p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6"/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 panose="02000503000000020004"/>
                <a:ea typeface="Helvetica Neue Light" panose="02000503000000020004"/>
                <a:cs typeface="Helvetica Neue Light" panose="02000503000000020004"/>
                <a:sym typeface="Helvetica Neue Light" panose="02000503000000020004"/>
              </a:defRPr>
            </a:lvl1pPr>
            <a:lvl2pPr marL="0" lvl="1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 panose="02000503000000020004"/>
                <a:ea typeface="Helvetica Neue Light" panose="02000503000000020004"/>
                <a:cs typeface="Helvetica Neue Light" panose="02000503000000020004"/>
                <a:sym typeface="Helvetica Neue Light" panose="02000503000000020004"/>
              </a:defRPr>
            </a:lvl2pPr>
            <a:lvl3pPr marL="0" lvl="2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 panose="02000503000000020004"/>
                <a:ea typeface="Helvetica Neue Light" panose="02000503000000020004"/>
                <a:cs typeface="Helvetica Neue Light" panose="02000503000000020004"/>
                <a:sym typeface="Helvetica Neue Light" panose="02000503000000020004"/>
              </a:defRPr>
            </a:lvl3pPr>
            <a:lvl4pPr marL="0" lvl="3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 panose="02000503000000020004"/>
                <a:ea typeface="Helvetica Neue Light" panose="02000503000000020004"/>
                <a:cs typeface="Helvetica Neue Light" panose="02000503000000020004"/>
                <a:sym typeface="Helvetica Neue Light" panose="02000503000000020004"/>
              </a:defRPr>
            </a:lvl4pPr>
            <a:lvl5pPr marL="0" lvl="4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 panose="02000503000000020004"/>
                <a:ea typeface="Helvetica Neue Light" panose="02000503000000020004"/>
                <a:cs typeface="Helvetica Neue Light" panose="02000503000000020004"/>
                <a:sym typeface="Helvetica Neue Light" panose="02000503000000020004"/>
              </a:defRPr>
            </a:lvl5pPr>
            <a:lvl6pPr marL="0" lvl="5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 panose="02000503000000020004"/>
                <a:ea typeface="Helvetica Neue Light" panose="02000503000000020004"/>
                <a:cs typeface="Helvetica Neue Light" panose="02000503000000020004"/>
                <a:sym typeface="Helvetica Neue Light" panose="02000503000000020004"/>
              </a:defRPr>
            </a:lvl6pPr>
            <a:lvl7pPr marL="0" lvl="6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 panose="02000503000000020004"/>
                <a:ea typeface="Helvetica Neue Light" panose="02000503000000020004"/>
                <a:cs typeface="Helvetica Neue Light" panose="02000503000000020004"/>
                <a:sym typeface="Helvetica Neue Light" panose="02000503000000020004"/>
              </a:defRPr>
            </a:lvl7pPr>
            <a:lvl8pPr marL="0" lvl="7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 panose="02000503000000020004"/>
                <a:ea typeface="Helvetica Neue Light" panose="02000503000000020004"/>
                <a:cs typeface="Helvetica Neue Light" panose="02000503000000020004"/>
                <a:sym typeface="Helvetica Neue Light" panose="02000503000000020004"/>
              </a:defRPr>
            </a:lvl8pPr>
            <a:lvl9pPr marL="0" lvl="8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 panose="02000503000000020004"/>
                <a:ea typeface="Helvetica Neue Light" panose="02000503000000020004"/>
                <a:cs typeface="Helvetica Neue Light" panose="02000503000000020004"/>
                <a:sym typeface="Helvetica Neue Light" panose="020005030000000200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lang="en-US" b="0"/>
              <a:t>  </a:t>
            </a:r>
            <a:fld id="{00000000-1234-1234-1234-123412341234}" type="slidenum">
              <a:rPr lang="en-US" b="0"/>
            </a:fld>
            <a:endParaRPr b="0"/>
          </a:p>
        </p:txBody>
      </p:sp>
      <p:sp>
        <p:nvSpPr>
          <p:cNvPr id="48" name="Google Shape;48;p6"/>
          <p:cNvSpPr txBox="1">
            <a:spLocks noGrp="1"/>
          </p:cNvSpPr>
          <p:nvPr>
            <p:ph type="dt" idx="10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>
                <a:solidFill>
                  <a:srgbClr val="7F7F7F"/>
                </a:solidFill>
                <a:latin typeface="Helvetica Neue Light" panose="02000503000000020004"/>
                <a:ea typeface="Helvetica Neue Light" panose="02000503000000020004"/>
                <a:cs typeface="Helvetica Neue Light" panose="02000503000000020004"/>
                <a:sym typeface="Helvetica Neue Light" panose="02000503000000020004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 rotWithShape="1">
          <a:blip r:embed="rId2"/>
          <a:srcRect l="29654" t="38312" r="29480" b="38397"/>
          <a:stretch>
            <a:fillRect/>
          </a:stretch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 panose="02000503000000020004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 panose="02000503000000020004"/>
                <a:ea typeface="Helvetica Neue Light" panose="02000503000000020004"/>
                <a:cs typeface="Helvetica Neue Light" panose="02000503000000020004"/>
                <a:sym typeface="Helvetica Neue Light" panose="02000503000000020004"/>
              </a:defRPr>
            </a:lvl1pPr>
            <a:lvl2pPr marL="0" lvl="1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 panose="02000503000000020004"/>
                <a:ea typeface="Helvetica Neue Light" panose="02000503000000020004"/>
                <a:cs typeface="Helvetica Neue Light" panose="02000503000000020004"/>
                <a:sym typeface="Helvetica Neue Light" panose="02000503000000020004"/>
              </a:defRPr>
            </a:lvl2pPr>
            <a:lvl3pPr marL="0" lvl="2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 panose="02000503000000020004"/>
                <a:ea typeface="Helvetica Neue Light" panose="02000503000000020004"/>
                <a:cs typeface="Helvetica Neue Light" panose="02000503000000020004"/>
                <a:sym typeface="Helvetica Neue Light" panose="02000503000000020004"/>
              </a:defRPr>
            </a:lvl3pPr>
            <a:lvl4pPr marL="0" lvl="3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 panose="02000503000000020004"/>
                <a:ea typeface="Helvetica Neue Light" panose="02000503000000020004"/>
                <a:cs typeface="Helvetica Neue Light" panose="02000503000000020004"/>
                <a:sym typeface="Helvetica Neue Light" panose="02000503000000020004"/>
              </a:defRPr>
            </a:lvl4pPr>
            <a:lvl5pPr marL="0" lvl="4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 panose="02000503000000020004"/>
                <a:ea typeface="Helvetica Neue Light" panose="02000503000000020004"/>
                <a:cs typeface="Helvetica Neue Light" panose="02000503000000020004"/>
                <a:sym typeface="Helvetica Neue Light" panose="02000503000000020004"/>
              </a:defRPr>
            </a:lvl5pPr>
            <a:lvl6pPr marL="0" lvl="5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 panose="02000503000000020004"/>
                <a:ea typeface="Helvetica Neue Light" panose="02000503000000020004"/>
                <a:cs typeface="Helvetica Neue Light" panose="02000503000000020004"/>
                <a:sym typeface="Helvetica Neue Light" panose="02000503000000020004"/>
              </a:defRPr>
            </a:lvl6pPr>
            <a:lvl7pPr marL="0" lvl="6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 panose="02000503000000020004"/>
                <a:ea typeface="Helvetica Neue Light" panose="02000503000000020004"/>
                <a:cs typeface="Helvetica Neue Light" panose="02000503000000020004"/>
                <a:sym typeface="Helvetica Neue Light" panose="02000503000000020004"/>
              </a:defRPr>
            </a:lvl7pPr>
            <a:lvl8pPr marL="0" lvl="7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 panose="02000503000000020004"/>
                <a:ea typeface="Helvetica Neue Light" panose="02000503000000020004"/>
                <a:cs typeface="Helvetica Neue Light" panose="02000503000000020004"/>
                <a:sym typeface="Helvetica Neue Light" panose="02000503000000020004"/>
              </a:defRPr>
            </a:lvl8pPr>
            <a:lvl9pPr marL="0" lvl="8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 panose="02000503000000020004"/>
                <a:ea typeface="Helvetica Neue Light" panose="02000503000000020004"/>
                <a:cs typeface="Helvetica Neue Light" panose="02000503000000020004"/>
                <a:sym typeface="Helvetica Neue Light" panose="020005030000000200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lang="en-US" b="0"/>
              <a:t>  </a:t>
            </a:r>
            <a:fld id="{00000000-1234-1234-1234-123412341234}" type="slidenum">
              <a:rPr lang="en-US" b="0"/>
            </a:fld>
            <a:endParaRPr b="0"/>
          </a:p>
        </p:txBody>
      </p:sp>
      <p:sp>
        <p:nvSpPr>
          <p:cNvPr id="53" name="Google Shape;53;p7"/>
          <p:cNvSpPr txBox="1">
            <a:spLocks noGrp="1"/>
          </p:cNvSpPr>
          <p:nvPr>
            <p:ph type="dt" idx="10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>
                <a:solidFill>
                  <a:srgbClr val="7F7F7F"/>
                </a:solidFill>
                <a:latin typeface="Helvetica Neue Light" panose="02000503000000020004"/>
                <a:ea typeface="Helvetica Neue Light" panose="02000503000000020004"/>
                <a:cs typeface="Helvetica Neue Light" panose="02000503000000020004"/>
                <a:sym typeface="Helvetica Neue Light" panose="02000503000000020004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4" name="Google Shape;54;p7"/>
          <p:cNvPicPr preferRelativeResize="0"/>
          <p:nvPr/>
        </p:nvPicPr>
        <p:blipFill rotWithShape="1">
          <a:blip r:embed="rId2"/>
          <a:srcRect l="29654" t="38312" r="29480" b="38397"/>
          <a:stretch>
            <a:fillRect/>
          </a:stretch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8"/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 panose="02000503000000020004"/>
                <a:ea typeface="Helvetica Neue Light" panose="02000503000000020004"/>
                <a:cs typeface="Helvetica Neue Light" panose="02000503000000020004"/>
                <a:sym typeface="Helvetica Neue Light" panose="02000503000000020004"/>
              </a:defRPr>
            </a:lvl1pPr>
            <a:lvl2pPr marL="0" lvl="1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 panose="02000503000000020004"/>
                <a:ea typeface="Helvetica Neue Light" panose="02000503000000020004"/>
                <a:cs typeface="Helvetica Neue Light" panose="02000503000000020004"/>
                <a:sym typeface="Helvetica Neue Light" panose="02000503000000020004"/>
              </a:defRPr>
            </a:lvl2pPr>
            <a:lvl3pPr marL="0" lvl="2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 panose="02000503000000020004"/>
                <a:ea typeface="Helvetica Neue Light" panose="02000503000000020004"/>
                <a:cs typeface="Helvetica Neue Light" panose="02000503000000020004"/>
                <a:sym typeface="Helvetica Neue Light" panose="02000503000000020004"/>
              </a:defRPr>
            </a:lvl3pPr>
            <a:lvl4pPr marL="0" lvl="3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 panose="02000503000000020004"/>
                <a:ea typeface="Helvetica Neue Light" panose="02000503000000020004"/>
                <a:cs typeface="Helvetica Neue Light" panose="02000503000000020004"/>
                <a:sym typeface="Helvetica Neue Light" panose="02000503000000020004"/>
              </a:defRPr>
            </a:lvl4pPr>
            <a:lvl5pPr marL="0" lvl="4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 panose="02000503000000020004"/>
                <a:ea typeface="Helvetica Neue Light" panose="02000503000000020004"/>
                <a:cs typeface="Helvetica Neue Light" panose="02000503000000020004"/>
                <a:sym typeface="Helvetica Neue Light" panose="02000503000000020004"/>
              </a:defRPr>
            </a:lvl5pPr>
            <a:lvl6pPr marL="0" lvl="5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 panose="02000503000000020004"/>
                <a:ea typeface="Helvetica Neue Light" panose="02000503000000020004"/>
                <a:cs typeface="Helvetica Neue Light" panose="02000503000000020004"/>
                <a:sym typeface="Helvetica Neue Light" panose="02000503000000020004"/>
              </a:defRPr>
            </a:lvl6pPr>
            <a:lvl7pPr marL="0" lvl="6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 panose="02000503000000020004"/>
                <a:ea typeface="Helvetica Neue Light" panose="02000503000000020004"/>
                <a:cs typeface="Helvetica Neue Light" panose="02000503000000020004"/>
                <a:sym typeface="Helvetica Neue Light" panose="02000503000000020004"/>
              </a:defRPr>
            </a:lvl7pPr>
            <a:lvl8pPr marL="0" lvl="7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 panose="02000503000000020004"/>
                <a:ea typeface="Helvetica Neue Light" panose="02000503000000020004"/>
                <a:cs typeface="Helvetica Neue Light" panose="02000503000000020004"/>
                <a:sym typeface="Helvetica Neue Light" panose="02000503000000020004"/>
              </a:defRPr>
            </a:lvl8pPr>
            <a:lvl9pPr marL="0" lvl="8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 panose="02000503000000020004"/>
                <a:ea typeface="Helvetica Neue Light" panose="02000503000000020004"/>
                <a:cs typeface="Helvetica Neue Light" panose="02000503000000020004"/>
                <a:sym typeface="Helvetica Neue Light" panose="020005030000000200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lang="en-US" b="0"/>
              <a:t>  </a:t>
            </a:r>
            <a:fld id="{00000000-1234-1234-1234-123412341234}" type="slidenum">
              <a:rPr lang="en-US" b="0"/>
            </a:fld>
            <a:endParaRPr b="0"/>
          </a:p>
        </p:txBody>
      </p:sp>
      <p:sp>
        <p:nvSpPr>
          <p:cNvPr id="57" name="Google Shape;57;p8"/>
          <p:cNvSpPr txBox="1">
            <a:spLocks noGrp="1"/>
          </p:cNvSpPr>
          <p:nvPr>
            <p:ph type="dt" idx="10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>
                <a:solidFill>
                  <a:srgbClr val="7F7F7F"/>
                </a:solidFill>
                <a:latin typeface="Helvetica Neue Light" panose="02000503000000020004"/>
                <a:ea typeface="Helvetica Neue Light" panose="02000503000000020004"/>
                <a:cs typeface="Helvetica Neue Light" panose="02000503000000020004"/>
                <a:sym typeface="Helvetica Neue Light" panose="02000503000000020004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8" name="Google Shape;58;p8"/>
          <p:cNvPicPr preferRelativeResize="0"/>
          <p:nvPr/>
        </p:nvPicPr>
        <p:blipFill rotWithShape="1">
          <a:blip r:embed="rId2"/>
          <a:srcRect l="29654" t="38312" r="29480" b="38397"/>
          <a:stretch>
            <a:fillRect/>
          </a:stretch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Content with Caption">
  <p:cSld name="OBJECT_WITH_CAPTION_TEXT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 panose="02000503000000020004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 Light" panose="02000503000000020004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 Light" panose="02000503000000020004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 panose="02000503000000020004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 panose="02000503000000020004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 panose="02000503000000020004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2" name="Google Shape;62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 panose="02000503000000020004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 Light" panose="02000503000000020004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 Light" panose="02000503000000020004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 Light" panose="02000503000000020004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 Light" panose="02000503000000020004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3" name="Google Shape;63;p9"/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 panose="02000503000000020004"/>
                <a:ea typeface="Helvetica Neue Light" panose="02000503000000020004"/>
                <a:cs typeface="Helvetica Neue Light" panose="02000503000000020004"/>
                <a:sym typeface="Helvetica Neue Light" panose="02000503000000020004"/>
              </a:defRPr>
            </a:lvl1pPr>
            <a:lvl2pPr marL="0" lvl="1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 panose="02000503000000020004"/>
                <a:ea typeface="Helvetica Neue Light" panose="02000503000000020004"/>
                <a:cs typeface="Helvetica Neue Light" panose="02000503000000020004"/>
                <a:sym typeface="Helvetica Neue Light" panose="02000503000000020004"/>
              </a:defRPr>
            </a:lvl2pPr>
            <a:lvl3pPr marL="0" lvl="2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 panose="02000503000000020004"/>
                <a:ea typeface="Helvetica Neue Light" panose="02000503000000020004"/>
                <a:cs typeface="Helvetica Neue Light" panose="02000503000000020004"/>
                <a:sym typeface="Helvetica Neue Light" panose="02000503000000020004"/>
              </a:defRPr>
            </a:lvl3pPr>
            <a:lvl4pPr marL="0" lvl="3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 panose="02000503000000020004"/>
                <a:ea typeface="Helvetica Neue Light" panose="02000503000000020004"/>
                <a:cs typeface="Helvetica Neue Light" panose="02000503000000020004"/>
                <a:sym typeface="Helvetica Neue Light" panose="02000503000000020004"/>
              </a:defRPr>
            </a:lvl4pPr>
            <a:lvl5pPr marL="0" lvl="4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 panose="02000503000000020004"/>
                <a:ea typeface="Helvetica Neue Light" panose="02000503000000020004"/>
                <a:cs typeface="Helvetica Neue Light" panose="02000503000000020004"/>
                <a:sym typeface="Helvetica Neue Light" panose="02000503000000020004"/>
              </a:defRPr>
            </a:lvl5pPr>
            <a:lvl6pPr marL="0" lvl="5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 panose="02000503000000020004"/>
                <a:ea typeface="Helvetica Neue Light" panose="02000503000000020004"/>
                <a:cs typeface="Helvetica Neue Light" panose="02000503000000020004"/>
                <a:sym typeface="Helvetica Neue Light" panose="02000503000000020004"/>
              </a:defRPr>
            </a:lvl6pPr>
            <a:lvl7pPr marL="0" lvl="6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 panose="02000503000000020004"/>
                <a:ea typeface="Helvetica Neue Light" panose="02000503000000020004"/>
                <a:cs typeface="Helvetica Neue Light" panose="02000503000000020004"/>
                <a:sym typeface="Helvetica Neue Light" panose="02000503000000020004"/>
              </a:defRPr>
            </a:lvl7pPr>
            <a:lvl8pPr marL="0" lvl="7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 panose="02000503000000020004"/>
                <a:ea typeface="Helvetica Neue Light" panose="02000503000000020004"/>
                <a:cs typeface="Helvetica Neue Light" panose="02000503000000020004"/>
                <a:sym typeface="Helvetica Neue Light" panose="02000503000000020004"/>
              </a:defRPr>
            </a:lvl8pPr>
            <a:lvl9pPr marL="0" lvl="8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 panose="02000503000000020004"/>
                <a:ea typeface="Helvetica Neue Light" panose="02000503000000020004"/>
                <a:cs typeface="Helvetica Neue Light" panose="02000503000000020004"/>
                <a:sym typeface="Helvetica Neue Light" panose="020005030000000200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lang="en-US" b="0"/>
              <a:t>  </a:t>
            </a:r>
            <a:fld id="{00000000-1234-1234-1234-123412341234}" type="slidenum">
              <a:rPr lang="en-US" b="0"/>
            </a:fld>
            <a:endParaRPr b="0"/>
          </a:p>
        </p:txBody>
      </p:sp>
      <p:sp>
        <p:nvSpPr>
          <p:cNvPr id="64" name="Google Shape;64;p9"/>
          <p:cNvSpPr txBox="1">
            <a:spLocks noGrp="1"/>
          </p:cNvSpPr>
          <p:nvPr>
            <p:ph type="dt" idx="10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>
                <a:solidFill>
                  <a:srgbClr val="7F7F7F"/>
                </a:solidFill>
                <a:latin typeface="Helvetica Neue Light" panose="02000503000000020004"/>
                <a:ea typeface="Helvetica Neue Light" panose="02000503000000020004"/>
                <a:cs typeface="Helvetica Neue Light" panose="02000503000000020004"/>
                <a:sym typeface="Helvetica Neue Light" panose="02000503000000020004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65" name="Google Shape;65;p9"/>
          <p:cNvPicPr preferRelativeResize="0"/>
          <p:nvPr/>
        </p:nvPicPr>
        <p:blipFill rotWithShape="1">
          <a:blip r:embed="rId2"/>
          <a:srcRect l="29654" t="38312" r="29480" b="38397"/>
          <a:stretch>
            <a:fillRect/>
          </a:stretch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Picture with Caption">
  <p:cSld name="PICTURE_WITH_CAPTION_TEX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 panose="02000503000000020004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 panose="02000503000000020004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 Light" panose="02000503000000020004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 Light" panose="02000503000000020004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 Light" panose="02000503000000020004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 Light" panose="02000503000000020004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0" name="Google Shape;70;p10"/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 panose="02000503000000020004"/>
                <a:ea typeface="Helvetica Neue Light" panose="02000503000000020004"/>
                <a:cs typeface="Helvetica Neue Light" panose="02000503000000020004"/>
                <a:sym typeface="Helvetica Neue Light" panose="02000503000000020004"/>
              </a:defRPr>
            </a:lvl1pPr>
            <a:lvl2pPr marL="0" lvl="1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 panose="02000503000000020004"/>
                <a:ea typeface="Helvetica Neue Light" panose="02000503000000020004"/>
                <a:cs typeface="Helvetica Neue Light" panose="02000503000000020004"/>
                <a:sym typeface="Helvetica Neue Light" panose="02000503000000020004"/>
              </a:defRPr>
            </a:lvl2pPr>
            <a:lvl3pPr marL="0" lvl="2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 panose="02000503000000020004"/>
                <a:ea typeface="Helvetica Neue Light" panose="02000503000000020004"/>
                <a:cs typeface="Helvetica Neue Light" panose="02000503000000020004"/>
                <a:sym typeface="Helvetica Neue Light" panose="02000503000000020004"/>
              </a:defRPr>
            </a:lvl3pPr>
            <a:lvl4pPr marL="0" lvl="3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 panose="02000503000000020004"/>
                <a:ea typeface="Helvetica Neue Light" panose="02000503000000020004"/>
                <a:cs typeface="Helvetica Neue Light" panose="02000503000000020004"/>
                <a:sym typeface="Helvetica Neue Light" panose="02000503000000020004"/>
              </a:defRPr>
            </a:lvl4pPr>
            <a:lvl5pPr marL="0" lvl="4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 panose="02000503000000020004"/>
                <a:ea typeface="Helvetica Neue Light" panose="02000503000000020004"/>
                <a:cs typeface="Helvetica Neue Light" panose="02000503000000020004"/>
                <a:sym typeface="Helvetica Neue Light" panose="02000503000000020004"/>
              </a:defRPr>
            </a:lvl5pPr>
            <a:lvl6pPr marL="0" lvl="5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 panose="02000503000000020004"/>
                <a:ea typeface="Helvetica Neue Light" panose="02000503000000020004"/>
                <a:cs typeface="Helvetica Neue Light" panose="02000503000000020004"/>
                <a:sym typeface="Helvetica Neue Light" panose="02000503000000020004"/>
              </a:defRPr>
            </a:lvl6pPr>
            <a:lvl7pPr marL="0" lvl="6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 panose="02000503000000020004"/>
                <a:ea typeface="Helvetica Neue Light" panose="02000503000000020004"/>
                <a:cs typeface="Helvetica Neue Light" panose="02000503000000020004"/>
                <a:sym typeface="Helvetica Neue Light" panose="02000503000000020004"/>
              </a:defRPr>
            </a:lvl7pPr>
            <a:lvl8pPr marL="0" lvl="7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 panose="02000503000000020004"/>
                <a:ea typeface="Helvetica Neue Light" panose="02000503000000020004"/>
                <a:cs typeface="Helvetica Neue Light" panose="02000503000000020004"/>
                <a:sym typeface="Helvetica Neue Light" panose="02000503000000020004"/>
              </a:defRPr>
            </a:lvl8pPr>
            <a:lvl9pPr marL="0" lvl="8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 panose="02000503000000020004"/>
                <a:ea typeface="Helvetica Neue Light" panose="02000503000000020004"/>
                <a:cs typeface="Helvetica Neue Light" panose="02000503000000020004"/>
                <a:sym typeface="Helvetica Neue Light" panose="020005030000000200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lang="en-US" b="0"/>
              <a:t>  </a:t>
            </a:r>
            <a:fld id="{00000000-1234-1234-1234-123412341234}" type="slidenum">
              <a:rPr lang="en-US" b="0"/>
            </a:fld>
            <a:endParaRPr b="0"/>
          </a:p>
        </p:txBody>
      </p:sp>
      <p:sp>
        <p:nvSpPr>
          <p:cNvPr id="71" name="Google Shape;71;p10"/>
          <p:cNvSpPr txBox="1">
            <a:spLocks noGrp="1"/>
          </p:cNvSpPr>
          <p:nvPr>
            <p:ph type="dt" idx="10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>
                <a:solidFill>
                  <a:srgbClr val="7F7F7F"/>
                </a:solidFill>
                <a:latin typeface="Helvetica Neue Light" panose="02000503000000020004"/>
                <a:ea typeface="Helvetica Neue Light" panose="02000503000000020004"/>
                <a:cs typeface="Helvetica Neue Light" panose="02000503000000020004"/>
                <a:sym typeface="Helvetica Neue Light" panose="02000503000000020004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72" name="Google Shape;72;p10"/>
          <p:cNvPicPr preferRelativeResize="0"/>
          <p:nvPr/>
        </p:nvPicPr>
        <p:blipFill rotWithShape="1">
          <a:blip r:embed="rId2"/>
          <a:srcRect l="29654" t="38312" r="29480" b="38397"/>
          <a:stretch>
            <a:fillRect/>
          </a:stretch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Title and Vertical Text">
  <p:cSld name="VERTICAL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 panose="02000503000000020004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11"/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 panose="02000503000000020004"/>
                <a:ea typeface="Helvetica Neue Light" panose="02000503000000020004"/>
                <a:cs typeface="Helvetica Neue Light" panose="02000503000000020004"/>
                <a:sym typeface="Helvetica Neue Light" panose="02000503000000020004"/>
              </a:defRPr>
            </a:lvl1pPr>
            <a:lvl2pPr marL="0" lvl="1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 panose="02000503000000020004"/>
                <a:ea typeface="Helvetica Neue Light" panose="02000503000000020004"/>
                <a:cs typeface="Helvetica Neue Light" panose="02000503000000020004"/>
                <a:sym typeface="Helvetica Neue Light" panose="02000503000000020004"/>
              </a:defRPr>
            </a:lvl2pPr>
            <a:lvl3pPr marL="0" lvl="2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 panose="02000503000000020004"/>
                <a:ea typeface="Helvetica Neue Light" panose="02000503000000020004"/>
                <a:cs typeface="Helvetica Neue Light" panose="02000503000000020004"/>
                <a:sym typeface="Helvetica Neue Light" panose="02000503000000020004"/>
              </a:defRPr>
            </a:lvl3pPr>
            <a:lvl4pPr marL="0" lvl="3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 panose="02000503000000020004"/>
                <a:ea typeface="Helvetica Neue Light" panose="02000503000000020004"/>
                <a:cs typeface="Helvetica Neue Light" panose="02000503000000020004"/>
                <a:sym typeface="Helvetica Neue Light" panose="02000503000000020004"/>
              </a:defRPr>
            </a:lvl4pPr>
            <a:lvl5pPr marL="0" lvl="4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 panose="02000503000000020004"/>
                <a:ea typeface="Helvetica Neue Light" panose="02000503000000020004"/>
                <a:cs typeface="Helvetica Neue Light" panose="02000503000000020004"/>
                <a:sym typeface="Helvetica Neue Light" panose="02000503000000020004"/>
              </a:defRPr>
            </a:lvl5pPr>
            <a:lvl6pPr marL="0" lvl="5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 panose="02000503000000020004"/>
                <a:ea typeface="Helvetica Neue Light" panose="02000503000000020004"/>
                <a:cs typeface="Helvetica Neue Light" panose="02000503000000020004"/>
                <a:sym typeface="Helvetica Neue Light" panose="02000503000000020004"/>
              </a:defRPr>
            </a:lvl6pPr>
            <a:lvl7pPr marL="0" lvl="6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 panose="02000503000000020004"/>
                <a:ea typeface="Helvetica Neue Light" panose="02000503000000020004"/>
                <a:cs typeface="Helvetica Neue Light" panose="02000503000000020004"/>
                <a:sym typeface="Helvetica Neue Light" panose="02000503000000020004"/>
              </a:defRPr>
            </a:lvl7pPr>
            <a:lvl8pPr marL="0" lvl="7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 panose="02000503000000020004"/>
                <a:ea typeface="Helvetica Neue Light" panose="02000503000000020004"/>
                <a:cs typeface="Helvetica Neue Light" panose="02000503000000020004"/>
                <a:sym typeface="Helvetica Neue Light" panose="02000503000000020004"/>
              </a:defRPr>
            </a:lvl8pPr>
            <a:lvl9pPr marL="0" lvl="8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 panose="02000503000000020004"/>
                <a:ea typeface="Helvetica Neue Light" panose="02000503000000020004"/>
                <a:cs typeface="Helvetica Neue Light" panose="02000503000000020004"/>
                <a:sym typeface="Helvetica Neue Light" panose="020005030000000200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lang="en-US" b="0"/>
              <a:t>  </a:t>
            </a:r>
            <a:fld id="{00000000-1234-1234-1234-123412341234}" type="slidenum">
              <a:rPr lang="en-US" b="0"/>
            </a:fld>
            <a:endParaRPr b="0"/>
          </a:p>
        </p:txBody>
      </p:sp>
      <p:sp>
        <p:nvSpPr>
          <p:cNvPr id="77" name="Google Shape;77;p11"/>
          <p:cNvSpPr txBox="1">
            <a:spLocks noGrp="1"/>
          </p:cNvSpPr>
          <p:nvPr>
            <p:ph type="dt" idx="10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>
                <a:solidFill>
                  <a:srgbClr val="7F7F7F"/>
                </a:solidFill>
                <a:latin typeface="Helvetica Neue Light" panose="02000503000000020004"/>
                <a:ea typeface="Helvetica Neue Light" panose="02000503000000020004"/>
                <a:cs typeface="Helvetica Neue Light" panose="02000503000000020004"/>
                <a:sym typeface="Helvetica Neue Light" panose="02000503000000020004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 rotWithShape="1">
          <a:blip r:embed="rId2"/>
          <a:srcRect l="29654" t="38312" r="29480" b="38397"/>
          <a:stretch>
            <a:fillRect/>
          </a:stretch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Vertical Title and Text">
  <p:cSld name="VERTICAL_TITLE_AND_VERTICAL_TEXT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 panose="02000503000000020004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12"/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 panose="02000503000000020004"/>
                <a:ea typeface="Helvetica Neue Light" panose="02000503000000020004"/>
                <a:cs typeface="Helvetica Neue Light" panose="02000503000000020004"/>
                <a:sym typeface="Helvetica Neue Light" panose="02000503000000020004"/>
              </a:defRPr>
            </a:lvl1pPr>
            <a:lvl2pPr marL="0" lvl="1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 panose="02000503000000020004"/>
                <a:ea typeface="Helvetica Neue Light" panose="02000503000000020004"/>
                <a:cs typeface="Helvetica Neue Light" panose="02000503000000020004"/>
                <a:sym typeface="Helvetica Neue Light" panose="02000503000000020004"/>
              </a:defRPr>
            </a:lvl2pPr>
            <a:lvl3pPr marL="0" lvl="2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 panose="02000503000000020004"/>
                <a:ea typeface="Helvetica Neue Light" panose="02000503000000020004"/>
                <a:cs typeface="Helvetica Neue Light" panose="02000503000000020004"/>
                <a:sym typeface="Helvetica Neue Light" panose="02000503000000020004"/>
              </a:defRPr>
            </a:lvl3pPr>
            <a:lvl4pPr marL="0" lvl="3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 panose="02000503000000020004"/>
                <a:ea typeface="Helvetica Neue Light" panose="02000503000000020004"/>
                <a:cs typeface="Helvetica Neue Light" panose="02000503000000020004"/>
                <a:sym typeface="Helvetica Neue Light" panose="02000503000000020004"/>
              </a:defRPr>
            </a:lvl4pPr>
            <a:lvl5pPr marL="0" lvl="4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 panose="02000503000000020004"/>
                <a:ea typeface="Helvetica Neue Light" panose="02000503000000020004"/>
                <a:cs typeface="Helvetica Neue Light" panose="02000503000000020004"/>
                <a:sym typeface="Helvetica Neue Light" panose="02000503000000020004"/>
              </a:defRPr>
            </a:lvl5pPr>
            <a:lvl6pPr marL="0" lvl="5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 panose="02000503000000020004"/>
                <a:ea typeface="Helvetica Neue Light" panose="02000503000000020004"/>
                <a:cs typeface="Helvetica Neue Light" panose="02000503000000020004"/>
                <a:sym typeface="Helvetica Neue Light" panose="02000503000000020004"/>
              </a:defRPr>
            </a:lvl6pPr>
            <a:lvl7pPr marL="0" lvl="6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 panose="02000503000000020004"/>
                <a:ea typeface="Helvetica Neue Light" panose="02000503000000020004"/>
                <a:cs typeface="Helvetica Neue Light" panose="02000503000000020004"/>
                <a:sym typeface="Helvetica Neue Light" panose="02000503000000020004"/>
              </a:defRPr>
            </a:lvl7pPr>
            <a:lvl8pPr marL="0" lvl="7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 panose="02000503000000020004"/>
                <a:ea typeface="Helvetica Neue Light" panose="02000503000000020004"/>
                <a:cs typeface="Helvetica Neue Light" panose="02000503000000020004"/>
                <a:sym typeface="Helvetica Neue Light" panose="02000503000000020004"/>
              </a:defRPr>
            </a:lvl8pPr>
            <a:lvl9pPr marL="0" lvl="8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 panose="02000503000000020004"/>
                <a:ea typeface="Helvetica Neue Light" panose="02000503000000020004"/>
                <a:cs typeface="Helvetica Neue Light" panose="02000503000000020004"/>
                <a:sym typeface="Helvetica Neue Light" panose="020005030000000200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lang="en-US" b="0"/>
              <a:t>  </a:t>
            </a:r>
            <a:fld id="{00000000-1234-1234-1234-123412341234}" type="slidenum">
              <a:rPr lang="en-US" b="0"/>
            </a:fld>
            <a:endParaRPr b="0"/>
          </a:p>
        </p:txBody>
      </p:sp>
      <p:sp>
        <p:nvSpPr>
          <p:cNvPr id="83" name="Google Shape;83;p12"/>
          <p:cNvSpPr txBox="1">
            <a:spLocks noGrp="1"/>
          </p:cNvSpPr>
          <p:nvPr>
            <p:ph type="dt" idx="10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>
                <a:solidFill>
                  <a:srgbClr val="7F7F7F"/>
                </a:solidFill>
                <a:latin typeface="Helvetica Neue Light" panose="02000503000000020004"/>
                <a:ea typeface="Helvetica Neue Light" panose="02000503000000020004"/>
                <a:cs typeface="Helvetica Neue Light" panose="02000503000000020004"/>
                <a:sym typeface="Helvetica Neue Light" panose="02000503000000020004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84" name="Google Shape;84;p12"/>
          <p:cNvPicPr preferRelativeResize="0"/>
          <p:nvPr/>
        </p:nvPicPr>
        <p:blipFill rotWithShape="1">
          <a:blip r:embed="rId2"/>
          <a:srcRect l="29654" t="38312" r="29480" b="38397"/>
          <a:stretch>
            <a:fillRect/>
          </a:stretch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 panose="02000503000000020004"/>
              <a:buNone/>
              <a:defRPr sz="4000" b="1" i="0" u="none" strike="noStrike" cap="none">
                <a:solidFill>
                  <a:schemeClr val="dk1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  <a:sym typeface="Helvetica Neue" panose="020005030000000200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 Light" panose="02000503000000020004"/>
              <a:buChar char="•"/>
              <a:defRPr sz="2800" b="0" i="0" u="none" strike="noStrike" cap="none">
                <a:solidFill>
                  <a:schemeClr val="dk1"/>
                </a:solidFill>
                <a:latin typeface="Helvetica Neue Light" panose="02000503000000020004"/>
                <a:ea typeface="Helvetica Neue Light" panose="02000503000000020004"/>
                <a:cs typeface="Helvetica Neue Light" panose="02000503000000020004"/>
                <a:sym typeface="Helvetica Neue Light" panose="02000503000000020004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 panose="02000503000000020004"/>
              <a:buChar char="•"/>
              <a:defRPr sz="2400" b="0" i="0" u="none" strike="noStrike" cap="none">
                <a:solidFill>
                  <a:schemeClr val="dk1"/>
                </a:solidFill>
                <a:latin typeface="Helvetica Neue Light" panose="02000503000000020004"/>
                <a:ea typeface="Helvetica Neue Light" panose="02000503000000020004"/>
                <a:cs typeface="Helvetica Neue Light" panose="02000503000000020004"/>
                <a:sym typeface="Helvetica Neue Light" panose="02000503000000020004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 panose="02000503000000020004"/>
              <a:buChar char="•"/>
              <a:defRPr sz="2000" b="0" i="0" u="none" strike="noStrike" cap="none">
                <a:solidFill>
                  <a:schemeClr val="dk1"/>
                </a:solidFill>
                <a:latin typeface="Helvetica Neue Light" panose="02000503000000020004"/>
                <a:ea typeface="Helvetica Neue Light" panose="02000503000000020004"/>
                <a:cs typeface="Helvetica Neue Light" panose="02000503000000020004"/>
                <a:sym typeface="Helvetica Neue Light" panose="02000503000000020004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 panose="02000503000000020004"/>
              <a:buChar char="•"/>
              <a:defRPr sz="1800" b="0" i="0" u="none" strike="noStrike" cap="none">
                <a:solidFill>
                  <a:schemeClr val="dk1"/>
                </a:solidFill>
                <a:latin typeface="Helvetica Neue Light" panose="02000503000000020004"/>
                <a:ea typeface="Helvetica Neue Light" panose="02000503000000020004"/>
                <a:cs typeface="Helvetica Neue Light" panose="02000503000000020004"/>
                <a:sym typeface="Helvetica Neue Light" panose="02000503000000020004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 panose="02000503000000020004"/>
              <a:buChar char="•"/>
              <a:defRPr sz="1800" b="0" i="0" u="none" strike="noStrike" cap="none">
                <a:solidFill>
                  <a:schemeClr val="dk1"/>
                </a:solidFill>
                <a:latin typeface="Helvetica Neue Light" panose="02000503000000020004"/>
                <a:ea typeface="Helvetica Neue Light" panose="02000503000000020004"/>
                <a:cs typeface="Helvetica Neue Light" panose="02000503000000020004"/>
                <a:sym typeface="Helvetica Neue Light" panose="020005030000000200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12" name="Google Shape;12;p1"/>
          <p:cNvGrpSpPr/>
          <p:nvPr/>
        </p:nvGrpSpPr>
        <p:grpSpPr>
          <a:xfrm>
            <a:off x="0" y="6756400"/>
            <a:ext cx="12192000" cy="105496"/>
            <a:chOff x="0" y="6756400"/>
            <a:chExt cx="12192000" cy="105496"/>
          </a:xfrm>
        </p:grpSpPr>
        <p:pic>
          <p:nvPicPr>
            <p:cNvPr id="13" name="Google Shape;13;p1"/>
            <p:cNvPicPr preferRelativeResize="0"/>
            <p:nvPr/>
          </p:nvPicPr>
          <p:blipFill rotWithShape="1">
            <a:blip r:embed="rId12"/>
            <a:srcRect/>
            <a:stretch>
              <a:fillRect/>
            </a:stretch>
          </p:blipFill>
          <p:spPr>
            <a:xfrm>
              <a:off x="1524000" y="6756400"/>
              <a:ext cx="91440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" name="Google Shape;14;p1"/>
            <p:cNvPicPr preferRelativeResize="0"/>
            <p:nvPr/>
          </p:nvPicPr>
          <p:blipFill rotWithShape="1">
            <a:blip r:embed="rId12"/>
            <a:srcRect r="71580" b="15585"/>
            <a:stretch>
              <a:fillRect/>
            </a:stretch>
          </p:blipFill>
          <p:spPr>
            <a:xfrm>
              <a:off x="0" y="6756400"/>
              <a:ext cx="2598717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5;p1"/>
            <p:cNvPicPr preferRelativeResize="0"/>
            <p:nvPr/>
          </p:nvPicPr>
          <p:blipFill rotWithShape="1">
            <a:blip r:embed="rId12"/>
            <a:srcRect r="71580" b="15585"/>
            <a:stretch>
              <a:fillRect/>
            </a:stretch>
          </p:blipFill>
          <p:spPr>
            <a:xfrm>
              <a:off x="9593283" y="6756400"/>
              <a:ext cx="2598717" cy="10549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" name="Google Shape;16;p1"/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 panose="02000503000000020004"/>
                <a:ea typeface="Helvetica Neue Light" panose="02000503000000020004"/>
                <a:cs typeface="Helvetica Neue Light" panose="02000503000000020004"/>
                <a:sym typeface="Helvetica Neue Light" panose="02000503000000020004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 panose="02000503000000020004"/>
                <a:ea typeface="Helvetica Neue Light" panose="02000503000000020004"/>
                <a:cs typeface="Helvetica Neue Light" panose="02000503000000020004"/>
                <a:sym typeface="Helvetica Neue Light" panose="02000503000000020004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 panose="02000503000000020004"/>
                <a:ea typeface="Helvetica Neue Light" panose="02000503000000020004"/>
                <a:cs typeface="Helvetica Neue Light" panose="02000503000000020004"/>
                <a:sym typeface="Helvetica Neue Light" panose="02000503000000020004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 panose="02000503000000020004"/>
                <a:ea typeface="Helvetica Neue Light" panose="02000503000000020004"/>
                <a:cs typeface="Helvetica Neue Light" panose="02000503000000020004"/>
                <a:sym typeface="Helvetica Neue Light" panose="02000503000000020004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 panose="02000503000000020004"/>
                <a:ea typeface="Helvetica Neue Light" panose="02000503000000020004"/>
                <a:cs typeface="Helvetica Neue Light" panose="02000503000000020004"/>
                <a:sym typeface="Helvetica Neue Light" panose="02000503000000020004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 panose="02000503000000020004"/>
                <a:ea typeface="Helvetica Neue Light" panose="02000503000000020004"/>
                <a:cs typeface="Helvetica Neue Light" panose="02000503000000020004"/>
                <a:sym typeface="Helvetica Neue Light" panose="02000503000000020004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 panose="02000503000000020004"/>
                <a:ea typeface="Helvetica Neue Light" panose="02000503000000020004"/>
                <a:cs typeface="Helvetica Neue Light" panose="02000503000000020004"/>
                <a:sym typeface="Helvetica Neue Light" panose="02000503000000020004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 panose="02000503000000020004"/>
                <a:ea typeface="Helvetica Neue Light" panose="02000503000000020004"/>
                <a:cs typeface="Helvetica Neue Light" panose="02000503000000020004"/>
                <a:sym typeface="Helvetica Neue Light" panose="02000503000000020004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 panose="02000503000000020004"/>
                <a:ea typeface="Helvetica Neue Light" panose="02000503000000020004"/>
                <a:cs typeface="Helvetica Neue Light" panose="02000503000000020004"/>
                <a:sym typeface="Helvetica Neue Light" panose="020005030000000200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lang="en-US" b="0"/>
              <a:t>  </a:t>
            </a:r>
            <a:fld id="{00000000-1234-1234-1234-123412341234}" type="slidenum">
              <a:rPr lang="en-US" b="0"/>
            </a:fld>
            <a:endParaRPr b="0"/>
          </a:p>
        </p:txBody>
      </p:sp>
      <p:sp>
        <p:nvSpPr>
          <p:cNvPr id="17" name="Google Shape;17;p1"/>
          <p:cNvSpPr txBox="1">
            <a:spLocks noGrp="1"/>
          </p:cNvSpPr>
          <p:nvPr>
            <p:ph type="dt" idx="10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F7F7F"/>
                </a:solidFill>
                <a:latin typeface="Helvetica Neue Light" panose="02000503000000020004"/>
                <a:ea typeface="Helvetica Neue Light" panose="02000503000000020004"/>
                <a:cs typeface="Helvetica Neue Light" panose="02000503000000020004"/>
                <a:sym typeface="Helvetica Neue Light" panose="020005030000000200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3"/>
          <p:cNvSpPr txBox="1">
            <a:spLocks noGrp="1"/>
          </p:cNvSpPr>
          <p:nvPr>
            <p:ph type="body" idx="1"/>
          </p:nvPr>
        </p:nvSpPr>
        <p:spPr>
          <a:xfrm>
            <a:off x="844150" y="4710224"/>
            <a:ext cx="10515601" cy="552037"/>
          </a:xfrm>
          <a:prstGeom prst="rect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44848"/>
              </a:buClr>
              <a:buSzPts val="500"/>
              <a:buFont typeface="Helvetica Neue Light" panose="02000503000000020004"/>
              <a:buNone/>
            </a:pPr>
            <a:r>
              <a:rPr lang="en-US" sz="2900"/>
              <a:t>Section 2</a:t>
            </a:r>
            <a:endParaRPr sz="2900"/>
          </a:p>
        </p:txBody>
      </p:sp>
      <p:sp>
        <p:nvSpPr>
          <p:cNvPr id="90" name="Google Shape;90;p13"/>
          <p:cNvSpPr txBox="1">
            <a:spLocks noGrp="1"/>
          </p:cNvSpPr>
          <p:nvPr>
            <p:ph type="body" idx="2"/>
          </p:nvPr>
        </p:nvSpPr>
        <p:spPr>
          <a:xfrm>
            <a:off x="844150" y="3784993"/>
            <a:ext cx="10516000" cy="9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2500" lnSpcReduction="2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Helvetica Neue" panose="02000503000000020004"/>
              <a:buNone/>
            </a:pPr>
            <a:r>
              <a:rPr lang="en-US"/>
              <a:t>Group 1: Intelligent Transportation System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/>
          <p:cNvSpPr txBox="1">
            <a:spLocks noGrp="1"/>
          </p:cNvSpPr>
          <p:nvPr>
            <p:ph type="title"/>
          </p:nvPr>
        </p:nvSpPr>
        <p:spPr>
          <a:xfrm>
            <a:off x="535173" y="579225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Helvetica Neue" panose="02000503000000020004"/>
              <a:buNone/>
            </a:pPr>
            <a:r>
              <a:rPr lang="en-US" dirty="0"/>
              <a:t>Reducing congestion at a 4-way intersection using probabilistic modelling</a:t>
            </a:r>
            <a:endParaRPr dirty="0"/>
          </a:p>
        </p:txBody>
      </p:sp>
      <p:sp>
        <p:nvSpPr>
          <p:cNvPr id="97" name="Google Shape;97;p14"/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|</a:t>
            </a:r>
            <a:r>
              <a:rPr lang="en-US"/>
              <a:t>  </a:t>
            </a:r>
            <a:fld id="{00000000-1234-1234-1234-123412341234}" type="slidenum">
              <a:rPr lang="en-US"/>
            </a:fld>
            <a:endParaRPr lang="en-US"/>
          </a:p>
        </p:txBody>
      </p:sp>
      <p:sp>
        <p:nvSpPr>
          <p:cNvPr id="98" name="Google Shape;98;p14"/>
          <p:cNvSpPr txBox="1">
            <a:spLocks noGrp="1"/>
          </p:cNvSpPr>
          <p:nvPr>
            <p:ph type="dt" idx="10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01/07/19</a:t>
            </a:r>
            <a:endParaRPr lang="en-US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063256" y="3798483"/>
            <a:ext cx="10116880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90204" pitchFamily="34" charset="0"/>
              </a:rPr>
              <a:t>Domain: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90204" pitchFamily="34" charset="0"/>
              </a:rPr>
              <a:t> Intelligent Transportation Systems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9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90204" pitchFamily="34" charset="0"/>
              </a:rPr>
              <a:t>Fixed-time signals fail under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90204" pitchFamily="34" charset="0"/>
              </a:rPr>
              <a:t>random, time-varying traffic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9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90204" pitchFamily="34" charset="0"/>
              </a:rPr>
              <a:t>Traffic arrivals, speeds, and queues are inherently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90204" pitchFamily="34" charset="0"/>
              </a:rPr>
              <a:t>stochastic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9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90204" pitchFamily="34" charset="0"/>
              </a:rPr>
              <a:t>Motivation: reduce congestion and waiting using probabilistic decision-making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5"/>
          <p:cNvSpPr txBox="1">
            <a:spLocks noGrp="1"/>
          </p:cNvSpPr>
          <p:nvPr>
            <p:ph type="title"/>
          </p:nvPr>
        </p:nvSpPr>
        <p:spPr>
          <a:xfrm>
            <a:off x="594303" y="26670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 panose="02000503000000020004"/>
              <a:buNone/>
            </a:pPr>
            <a:r>
              <a:rPr lang="en-US"/>
              <a:t>Objective and scope of the project</a:t>
            </a:r>
            <a:endParaRPr lang="en-US"/>
          </a:p>
        </p:txBody>
      </p:sp>
      <p:sp>
        <p:nvSpPr>
          <p:cNvPr id="104" name="Google Shape;104;p15"/>
          <p:cNvSpPr txBox="1">
            <a:spLocks noGrp="1"/>
          </p:cNvSpPr>
          <p:nvPr>
            <p:ph type="body" idx="1"/>
          </p:nvPr>
        </p:nvSpPr>
        <p:spPr>
          <a:xfrm>
            <a:off x="582427" y="1768950"/>
            <a:ext cx="10515600" cy="3106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lang="en-US" dirty="0"/>
              <a:t>Objective</a:t>
            </a:r>
            <a:r>
              <a:rPr lang="en-US" b="1" dirty="0"/>
              <a:t>:</a:t>
            </a:r>
            <a:r>
              <a:rPr lang="en-US" dirty="0"/>
              <a:t> Minimize expected waiting time at an intersection</a:t>
            </a:r>
            <a:endParaRPr lang="en-US" dirty="0"/>
          </a:p>
          <a:p>
            <a:r>
              <a:rPr lang="en-US" dirty="0"/>
              <a:t>Decision</a:t>
            </a:r>
            <a:r>
              <a:rPr lang="en-US" b="1" dirty="0"/>
              <a:t>:</a:t>
            </a:r>
            <a:r>
              <a:rPr lang="en-US" dirty="0"/>
              <a:t> Select next signal phase and green allocation</a:t>
            </a:r>
            <a:endParaRPr lang="en-US" dirty="0"/>
          </a:p>
          <a:p>
            <a:r>
              <a:rPr lang="en-US" dirty="0"/>
              <a:t>Estimated</a:t>
            </a:r>
            <a:r>
              <a:rPr lang="en-US" b="1" dirty="0"/>
              <a:t>:</a:t>
            </a:r>
            <a:r>
              <a:rPr lang="en-US" dirty="0"/>
              <a:t> Arrival rates and congestion levels</a:t>
            </a:r>
            <a:endParaRPr lang="en-US" dirty="0"/>
          </a:p>
          <a:p>
            <a:r>
              <a:rPr lang="en-US" dirty="0"/>
              <a:t>Scope</a:t>
            </a:r>
            <a:r>
              <a:rPr lang="en-US" b="1" dirty="0"/>
              <a:t>:</a:t>
            </a:r>
            <a:r>
              <a:rPr lang="en-US" dirty="0"/>
              <a:t> Single isolated 4-way intersection, vehicle traffic only</a:t>
            </a:r>
            <a:endParaRPr lang="en-US" dirty="0"/>
          </a:p>
          <a:p>
            <a:pPr marL="228600" lvl="0" indent="-762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 panose="02000503000000020004"/>
              <a:buNone/>
            </a:pPr>
            <a:endParaRPr dirty="0"/>
          </a:p>
        </p:txBody>
      </p:sp>
      <p:sp>
        <p:nvSpPr>
          <p:cNvPr id="105" name="Google Shape;105;p15"/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|</a:t>
            </a:r>
            <a:r>
              <a:rPr lang="en-US"/>
              <a:t>  </a:t>
            </a:r>
            <a:fld id="{00000000-1234-1234-1234-123412341234}" type="slidenum">
              <a:rPr lang="en-US"/>
            </a:fld>
            <a:endParaRPr lang="en-US"/>
          </a:p>
        </p:txBody>
      </p:sp>
      <p:sp>
        <p:nvSpPr>
          <p:cNvPr id="106" name="Google Shape;106;p15"/>
          <p:cNvSpPr txBox="1">
            <a:spLocks noGrp="1"/>
          </p:cNvSpPr>
          <p:nvPr>
            <p:ph type="dt" idx="10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01/07/19</a:t>
            </a:r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6"/>
          <p:cNvSpPr txBox="1">
            <a:spLocks noGrp="1"/>
          </p:cNvSpPr>
          <p:nvPr>
            <p:ph type="title"/>
          </p:nvPr>
        </p:nvSpPr>
        <p:spPr>
          <a:xfrm>
            <a:off x="594303" y="266700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System Overview</a:t>
            </a:r>
            <a:endParaRPr dirty="0"/>
          </a:p>
        </p:txBody>
      </p:sp>
      <p:sp>
        <p:nvSpPr>
          <p:cNvPr id="114" name="Google Shape;114;p16"/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90204"/>
              <a:buNone/>
            </a:pPr>
            <a:r>
              <a:rPr lang="en-US"/>
              <a:t>|</a:t>
            </a:r>
            <a:r>
              <a:rPr lang="en-US" b="0"/>
              <a:t>  </a:t>
            </a:r>
            <a:fld id="{00000000-1234-1234-1234-123412341234}" type="slidenum">
              <a:rPr lang="en-US" b="0"/>
            </a:fld>
            <a:endParaRPr b="0"/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707065" y="2105458"/>
            <a:ext cx="10170042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400" dirty="0">
                <a:solidFill>
                  <a:schemeClr val="tx1"/>
                </a:solidFill>
                <a:latin typeface="Arial" panose="020B0604020202090204" pitchFamily="34" charset="0"/>
              </a:rPr>
              <a:t>Measure the length / density of queues per approach.</a:t>
            </a:r>
            <a:endParaRPr lang="en-US" altLang="en-US" sz="2400" dirty="0">
              <a:solidFill>
                <a:schemeClr val="tx1"/>
              </a:solidFill>
              <a:latin typeface="Arial" panose="020B060402020209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400" dirty="0">
                <a:solidFill>
                  <a:schemeClr val="tx1"/>
                </a:solidFill>
                <a:latin typeface="Arial" panose="020B0604020202090204" pitchFamily="34" charset="0"/>
              </a:rPr>
              <a:t>Probabilistically perform model arrivals and clearance.</a:t>
            </a:r>
            <a:endParaRPr lang="en-US" altLang="en-US" sz="2400" dirty="0">
              <a:solidFill>
                <a:schemeClr val="tx1"/>
              </a:solidFill>
              <a:latin typeface="Arial" panose="020B060402020209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400" dirty="0">
                <a:solidFill>
                  <a:schemeClr val="tx1"/>
                </a:solidFill>
                <a:latin typeface="Arial" panose="020B0604020202090204" pitchFamily="34" charset="0"/>
              </a:rPr>
              <a:t>Approximately pressure on congestion.</a:t>
            </a:r>
            <a:endParaRPr lang="en-US" altLang="en-US" sz="2400" dirty="0">
              <a:solidFill>
                <a:schemeClr val="tx1"/>
              </a:solidFill>
              <a:latin typeface="Arial" panose="020B060402020209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400" dirty="0">
                <a:solidFill>
                  <a:schemeClr val="tx1"/>
                </a:solidFill>
                <a:latin typeface="Arial" panose="020B0604020202090204" pitchFamily="34" charset="0"/>
              </a:rPr>
              <a:t>Use randomized selection of signal by weight.</a:t>
            </a:r>
            <a:endParaRPr lang="en-US" altLang="en-US" sz="2400" dirty="0">
              <a:solidFill>
                <a:schemeClr val="tx1"/>
              </a:solidFill>
              <a:latin typeface="Arial" panose="020B060402020209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400" dirty="0">
                <a:solidFill>
                  <a:schemeClr val="tx1"/>
                </a:solidFill>
                <a:latin typeface="Arial" panose="020B0604020202090204" pitchFamily="34" charset="0"/>
              </a:rPr>
              <a:t>Assess through simulation measures.</a:t>
            </a:r>
            <a:endParaRPr lang="en-US" altLang="en-US" sz="2400" dirty="0">
              <a:solidFill>
                <a:schemeClr val="tx1"/>
              </a:solidFill>
              <a:latin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7"/>
          <p:cNvSpPr txBox="1">
            <a:spLocks noGrp="1"/>
          </p:cNvSpPr>
          <p:nvPr>
            <p:ph type="title"/>
          </p:nvPr>
        </p:nvSpPr>
        <p:spPr>
          <a:xfrm>
            <a:off x="594303" y="266700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Sources of Uncertainty</a:t>
            </a:r>
            <a:endParaRPr dirty="0"/>
          </a:p>
        </p:txBody>
      </p:sp>
      <p:sp>
        <p:nvSpPr>
          <p:cNvPr id="122" name="Google Shape;122;p17"/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90204"/>
              <a:buNone/>
            </a:pPr>
            <a:r>
              <a:rPr lang="en-US"/>
              <a:t>|</a:t>
            </a:r>
            <a:r>
              <a:rPr lang="en-US" b="0"/>
              <a:t>  </a:t>
            </a:r>
            <a:fld id="{00000000-1234-1234-1234-123412341234}" type="slidenum">
              <a:rPr lang="en-US" b="0"/>
            </a:fld>
            <a:endParaRPr b="0"/>
          </a:p>
        </p:txBody>
      </p:sp>
      <p:sp>
        <p:nvSpPr>
          <p:cNvPr id="10" name="Rectangle 7"/>
          <p:cNvSpPr>
            <a:spLocks noGrp="1" noChangeArrowheads="1"/>
          </p:cNvSpPr>
          <p:nvPr>
            <p:ph type="body" idx="1"/>
          </p:nvPr>
        </p:nvSpPr>
        <p:spPr bwMode="auto">
          <a:xfrm>
            <a:off x="582427" y="1936376"/>
            <a:ext cx="10841429" cy="40164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r>
              <a:rPr lang="en-US" sz="2000" b="1" dirty="0"/>
              <a:t>Measurement Uncertainty:</a:t>
            </a:r>
            <a:endParaRPr lang="en-US" sz="2000" dirty="0"/>
          </a:p>
          <a:p>
            <a:pPr marL="76200" indent="0">
              <a:buNone/>
            </a:pPr>
            <a:r>
              <a:rPr lang="en-IN" dirty="0"/>
              <a:t>	Sensor noise and inaccurate estimation of queues. </a:t>
            </a:r>
            <a:endParaRPr lang="en-IN" sz="2000" dirty="0"/>
          </a:p>
          <a:p>
            <a:r>
              <a:rPr lang="en-US" sz="2000" b="1" dirty="0"/>
              <a:t>Environmental Variability:</a:t>
            </a:r>
            <a:endParaRPr lang="en-US" sz="2000" dirty="0"/>
          </a:p>
          <a:p>
            <a:pPr marL="76200" indent="0">
              <a:buNone/>
            </a:pPr>
            <a:r>
              <a:rPr lang="en-US" sz="2000" dirty="0"/>
              <a:t>	</a:t>
            </a:r>
            <a:r>
              <a:rPr lang="en-US" dirty="0"/>
              <a:t>Peak vs off-peak traffic </a:t>
            </a:r>
            <a:endParaRPr lang="en-US" dirty="0"/>
          </a:p>
          <a:p>
            <a:pPr marL="76200" indent="0">
              <a:buNone/>
            </a:pPr>
            <a:r>
              <a:rPr lang="en-US" dirty="0"/>
              <a:t>	Platoon surges and upstream platooning.</a:t>
            </a:r>
            <a:endParaRPr lang="en-US" dirty="0"/>
          </a:p>
          <a:p>
            <a:r>
              <a:rPr lang="en-US" sz="2000" b="1" dirty="0"/>
              <a:t>Modeling Uncertainty:</a:t>
            </a:r>
            <a:endParaRPr lang="en-US" sz="2000" dirty="0"/>
          </a:p>
          <a:p>
            <a:pPr marL="76200" indent="0">
              <a:buNone/>
            </a:pPr>
            <a:r>
              <a:rPr lang="en-US" dirty="0"/>
              <a:t>	Anciently, </a:t>
            </a:r>
            <a:r>
              <a:rPr lang="en-US" dirty="0" err="1"/>
              <a:t>poisson</a:t>
            </a:r>
            <a:r>
              <a:rPr lang="en-US" dirty="0"/>
              <a:t> assumption might not be true. </a:t>
            </a:r>
            <a:endParaRPr lang="en-US" dirty="0"/>
          </a:p>
          <a:p>
            <a:r>
              <a:rPr lang="en-US" sz="2000" b="1" dirty="0"/>
              <a:t>Control Uncertainty:</a:t>
            </a:r>
            <a:endParaRPr lang="en-US" sz="2000" dirty="0"/>
          </a:p>
          <a:p>
            <a:pPr marL="76200" indent="0">
              <a:buNone/>
            </a:pPr>
            <a:r>
              <a:rPr lang="en-US" dirty="0"/>
              <a:t>	Signal decisions affect the future arrivals and queues (feedback effect).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8"/>
          <p:cNvSpPr txBox="1">
            <a:spLocks noGrp="1"/>
          </p:cNvSpPr>
          <p:nvPr>
            <p:ph type="title"/>
          </p:nvPr>
        </p:nvSpPr>
        <p:spPr>
          <a:xfrm>
            <a:off x="594303" y="266700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Key Random Variables</a:t>
            </a:r>
            <a:endParaRPr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9" name="Google Shape;129;p18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582427" y="1768950"/>
                <a:ext cx="10515600" cy="4351200"/>
              </a:xfrm>
              <a:prstGeom prst="rect">
                <a:avLst/>
              </a:prstGeom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/>
                        </m:ctrlPr>
                      </m:sSubPr>
                      <m:e>
                        <m:r>
                          <a:rPr lang="ar-AE" i="1">
                            <a:latin typeface="DejaVu Math TeX Gyre" panose="02000503000000000000" charset="0"/>
                          </a:rPr>
                          <m:t>𝐴</m:t>
                        </m:r>
                      </m:e>
                      <m:sub>
                        <m:r>
                          <a:rPr lang="ar-AE" i="1">
                            <a:latin typeface="DejaVu Math TeX Gyre" panose="02000503000000000000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ar-AE" i="1"/>
                        </m:ctrlPr>
                      </m:dPr>
                      <m:e>
                        <m:r>
                          <a:rPr lang="ar-AE" i="1">
                            <a:latin typeface="DejaVu Math TeX Gyre" panose="02000503000000000000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ar-AE" dirty="0"/>
                  <a:t>: </a:t>
                </a:r>
                <a:r>
                  <a:rPr lang="en-IN" dirty="0"/>
                  <a:t>Number of vehicle arrivals in a time window (random count)</a:t>
                </a:r>
                <a:endParaRPr lang="en-IN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/>
                        </m:ctrlPr>
                      </m:sSubPr>
                      <m:e>
                        <m:r>
                          <a:rPr lang="ar-AE" i="1">
                            <a:latin typeface="DejaVu Math TeX Gyre" panose="02000503000000000000" charset="0"/>
                          </a:rPr>
                          <m:t>𝜆</m:t>
                        </m:r>
                      </m:e>
                      <m:sub>
                        <m:r>
                          <a:rPr lang="ar-AE" i="1">
                            <a:latin typeface="DejaVu Math TeX Gyre" panose="02000503000000000000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ar-AE" i="1"/>
                        </m:ctrlPr>
                      </m:dPr>
                      <m:e>
                        <m:r>
                          <a:rPr lang="ar-AE" i="1">
                            <a:latin typeface="DejaVu Math TeX Gyre" panose="02000503000000000000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ar-AE" dirty="0"/>
                  <a:t>: </a:t>
                </a:r>
                <a:r>
                  <a:rPr lang="en-IN" dirty="0"/>
                  <a:t>Time-varying arrival rate for each approach</a:t>
                </a:r>
                <a:endParaRPr lang="en-IN" dirty="0"/>
              </a:p>
              <a:p>
                <a14:m>
                  <m:oMath xmlns:m="http://schemas.openxmlformats.org/officeDocument/2006/math">
                    <m:r>
                      <a:rPr lang="en-IN" i="1">
                        <a:latin typeface="DejaVu Math TeX Gyre" panose="02000503000000000000" charset="0"/>
                      </a:rPr>
                      <m:t>𝑇</m:t>
                    </m:r>
                  </m:oMath>
                </a14:m>
                <a:r>
                  <a:rPr lang="en-IN" dirty="0"/>
                  <a:t>: Inter-arrival time between vehicles (continuous random variable)</a:t>
                </a:r>
                <a:endParaRPr lang="en-IN" dirty="0"/>
              </a:p>
              <a:p>
                <a14:m>
                  <m:oMath xmlns:m="http://schemas.openxmlformats.org/officeDocument/2006/math">
                    <m:r>
                      <a:rPr lang="en-IN" i="1">
                        <a:latin typeface="DejaVu Math TeX Gyre" panose="02000503000000000000" charset="0"/>
                      </a:rPr>
                      <m:t>𝑉</m:t>
                    </m:r>
                  </m:oMath>
                </a14:m>
                <a:r>
                  <a:rPr lang="en-IN" dirty="0"/>
                  <a:t>: Vehicle speed during clearance (random)</a:t>
                </a:r>
                <a:endParaRPr lang="en-IN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/>
                        </m:ctrlPr>
                      </m:sSubPr>
                      <m:e>
                        <m:r>
                          <a:rPr lang="ar-AE" i="1">
                            <a:latin typeface="DejaVu Math TeX Gyre" panose="02000503000000000000" charset="0"/>
                          </a:rPr>
                          <m:t>𝑄</m:t>
                        </m:r>
                      </m:e>
                      <m:sub>
                        <m:r>
                          <a:rPr lang="ar-AE" i="1">
                            <a:latin typeface="DejaVu Math TeX Gyre" panose="02000503000000000000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ar-AE" i="1"/>
                        </m:ctrlPr>
                      </m:dPr>
                      <m:e>
                        <m:r>
                          <a:rPr lang="ar-AE" i="1">
                            <a:latin typeface="DejaVu Math TeX Gyre" panose="02000503000000000000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ar-AE" dirty="0"/>
                  <a:t>: </a:t>
                </a:r>
                <a:r>
                  <a:rPr lang="en-IN" dirty="0"/>
                  <a:t>Queue length at approach </a:t>
                </a:r>
                <a14:m>
                  <m:oMath xmlns:m="http://schemas.openxmlformats.org/officeDocument/2006/math">
                    <m:r>
                      <a:rPr lang="en-IN" i="1">
                        <a:latin typeface="DejaVu Math TeX Gyre" panose="02000503000000000000" charset="0"/>
                      </a:rPr>
                      <m:t>𝑖</m:t>
                    </m:r>
                  </m:oMath>
                </a14:m>
                <a:endParaRPr lang="en-IN" dirty="0"/>
              </a:p>
              <a:p>
                <a14:m>
                  <m:oMath xmlns:m="http://schemas.openxmlformats.org/officeDocument/2006/math">
                    <m:r>
                      <a:rPr lang="en-IN" i="1">
                        <a:latin typeface="DejaVu Math TeX Gyre" panose="02000503000000000000" charset="0"/>
                      </a:rPr>
                      <m:t>𝑊</m:t>
                    </m:r>
                  </m:oMath>
                </a14:m>
                <a:r>
                  <a:rPr lang="en-IN" dirty="0"/>
                  <a:t>: Waiting time per vehicle (performance metric)</a:t>
                </a:r>
                <a:endParaRPr lang="en-IN" dirty="0"/>
              </a:p>
              <a:p>
                <a:pPr marL="76200" indent="0">
                  <a:buNone/>
                </a:pPr>
                <a:endParaRPr lang="en-IN" dirty="0"/>
              </a:p>
              <a:p>
                <a:pPr marL="76200" indent="0">
                  <a:buNone/>
                </a:pPr>
                <a:r>
                  <a:rPr lang="en-IN" dirty="0"/>
                  <a:t>Each variable captures a different source of randomness affecting congestion.</a:t>
                </a:r>
                <a:endParaRPr lang="en-IN" dirty="0"/>
              </a:p>
              <a:p>
                <a:pPr marL="0" lvl="0" indent="0" algn="l" rtl="0">
                  <a:spcBef>
                    <a:spcPts val="100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mc:Choice>
        <mc:Fallback>
          <p:sp>
            <p:nvSpPr>
              <p:cNvPr id="129" name="Google Shape;129;p18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582427" y="1768950"/>
                <a:ext cx="10515600" cy="4351200"/>
              </a:xfrm>
              <a:prstGeom prst="rect">
                <a:avLst/>
              </a:prstGeom>
              <a:blipFill rotWithShape="1">
                <a:blip r:embed="rId1"/>
                <a:stretch>
                  <a:fillRect l="-1" t="-11" r="1" b="-5881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0" name="Google Shape;130;p18"/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90204"/>
              <a:buNone/>
            </a:pPr>
            <a:r>
              <a:rPr lang="en-US"/>
              <a:t>|</a:t>
            </a:r>
            <a:r>
              <a:rPr lang="en-US" b="0"/>
              <a:t>  </a:t>
            </a:r>
            <a:fld id="{00000000-1234-1234-1234-123412341234}" type="slidenum">
              <a:rPr lang="en-US" b="0"/>
            </a:fld>
            <a:endParaRPr b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9"/>
          <p:cNvSpPr txBox="1">
            <a:spLocks noGrp="1"/>
          </p:cNvSpPr>
          <p:nvPr>
            <p:ph type="title"/>
          </p:nvPr>
        </p:nvSpPr>
        <p:spPr>
          <a:xfrm>
            <a:off x="594303" y="266700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Probabilistic Models and Assumptions</a:t>
            </a:r>
            <a:endParaRPr dirty="0"/>
          </a:p>
        </p:txBody>
      </p:sp>
      <p:sp>
        <p:nvSpPr>
          <p:cNvPr id="137" name="Google Shape;137;p19"/>
          <p:cNvSpPr txBox="1">
            <a:spLocks noGrp="1"/>
          </p:cNvSpPr>
          <p:nvPr>
            <p:ph type="body" idx="1"/>
          </p:nvPr>
        </p:nvSpPr>
        <p:spPr>
          <a:xfrm>
            <a:off x="582427" y="1768950"/>
            <a:ext cx="105156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r>
              <a:rPr lang="en-IN" b="1" dirty="0"/>
              <a:t>Models Used:</a:t>
            </a:r>
            <a:endParaRPr lang="en-IN" dirty="0"/>
          </a:p>
          <a:p>
            <a:pPr marL="76200" indent="0">
              <a:buNone/>
            </a:pPr>
            <a:r>
              <a:rPr lang="en-IN" b="1" dirty="0"/>
              <a:t>	</a:t>
            </a:r>
            <a:r>
              <a:rPr lang="en-US" dirty="0"/>
              <a:t>Poisson: an arrival of vehicles that is random. </a:t>
            </a:r>
            <a:endParaRPr lang="en-US" dirty="0"/>
          </a:p>
          <a:p>
            <a:pPr marL="76200" indent="0">
              <a:buNone/>
            </a:pPr>
            <a:r>
              <a:rPr lang="en-US" dirty="0"/>
              <a:t>	Time intervals between arrivals are exponential. </a:t>
            </a:r>
            <a:endParaRPr lang="en-US" dirty="0"/>
          </a:p>
          <a:p>
            <a:pPr marL="76200" indent="0">
              <a:buNone/>
            </a:pPr>
            <a:r>
              <a:rPr lang="en-US" dirty="0"/>
              <a:t>	Normal: variation in clearance speeds. </a:t>
            </a:r>
            <a:endParaRPr lang="en-US" dirty="0"/>
          </a:p>
          <a:p>
            <a:r>
              <a:rPr lang="en-IN" b="1" dirty="0"/>
              <a:t>Assumptions:</a:t>
            </a:r>
            <a:endParaRPr lang="en-IN" dirty="0"/>
          </a:p>
          <a:p>
            <a:pPr marL="76200" indent="0">
              <a:buNone/>
            </a:pPr>
            <a:r>
              <a:rPr lang="en-US" dirty="0"/>
              <a:t>	Short-run autonomy of arrivals. </a:t>
            </a:r>
            <a:endParaRPr lang="en-US" dirty="0"/>
          </a:p>
          <a:p>
            <a:pPr marL="76200" indent="0">
              <a:buNone/>
            </a:pPr>
            <a:r>
              <a:rPr lang="en-US" dirty="0"/>
              <a:t>	Speeds are within an average range. </a:t>
            </a:r>
            <a:endParaRPr lang="en-US" dirty="0"/>
          </a:p>
          <a:p>
            <a:pPr marL="76200" indent="0">
              <a:buNone/>
            </a:pPr>
            <a:r>
              <a:rPr lang="en-US" dirty="0"/>
              <a:t>	Small interval approximate stationarity.</a:t>
            </a:r>
            <a:endParaRPr lang="en-US" dirty="0"/>
          </a:p>
          <a:p>
            <a:r>
              <a:rPr lang="en-IN" b="1" dirty="0"/>
              <a:t>Justification:</a:t>
            </a:r>
            <a:endParaRPr lang="en-IN" dirty="0"/>
          </a:p>
          <a:p>
            <a:pPr marL="76200" indent="0">
              <a:buNone/>
            </a:pPr>
            <a:r>
              <a:rPr lang="en-US" dirty="0"/>
              <a:t>	Brings a sense of realism and simplicity of analysis.	</a:t>
            </a:r>
            <a:endParaRPr lang="en-IN" dirty="0"/>
          </a:p>
        </p:txBody>
      </p:sp>
      <p:sp>
        <p:nvSpPr>
          <p:cNvPr id="138" name="Google Shape;138;p19"/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90204"/>
              <a:buNone/>
            </a:pPr>
            <a:r>
              <a:rPr lang="en-US"/>
              <a:t>|</a:t>
            </a:r>
            <a:r>
              <a:rPr lang="en-US" b="0"/>
              <a:t>  </a:t>
            </a:r>
            <a:fld id="{00000000-1234-1234-1234-123412341234}" type="slidenum">
              <a:rPr lang="en-US" b="0"/>
            </a:fld>
            <a:endParaRPr b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0"/>
          <p:cNvSpPr txBox="1">
            <a:spLocks noGrp="1"/>
          </p:cNvSpPr>
          <p:nvPr>
            <p:ph type="title"/>
          </p:nvPr>
        </p:nvSpPr>
        <p:spPr>
          <a:xfrm>
            <a:off x="594303" y="266700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Probabilistic Reasoning/Decision Logic</a:t>
            </a:r>
            <a:endParaRPr lang="en-US"/>
          </a:p>
        </p:txBody>
      </p:sp>
      <p:sp>
        <p:nvSpPr>
          <p:cNvPr id="145" name="Google Shape;145;p20"/>
          <p:cNvSpPr txBox="1">
            <a:spLocks noGrp="1"/>
          </p:cNvSpPr>
          <p:nvPr>
            <p:ph type="body" idx="1"/>
          </p:nvPr>
        </p:nvSpPr>
        <p:spPr>
          <a:xfrm>
            <a:off x="582427" y="1768950"/>
            <a:ext cx="105156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lang="en-US" dirty="0"/>
              <a:t>Random arrivals - uncertainty in the growth of the queue.</a:t>
            </a:r>
            <a:endParaRPr lang="en-US" dirty="0"/>
          </a:p>
          <a:p>
            <a:r>
              <a:rPr lang="en-US" dirty="0"/>
              <a:t>The length of queues approximates the risk of congestion.</a:t>
            </a:r>
            <a:endParaRPr lang="en-US" dirty="0"/>
          </a:p>
          <a:p>
            <a:r>
              <a:rPr lang="en-US" dirty="0"/>
              <a:t>Increasing congestion - increasing probability of green.</a:t>
            </a:r>
            <a:endParaRPr lang="en-US" dirty="0"/>
          </a:p>
          <a:p>
            <a:r>
              <a:rPr lang="en-US" dirty="0"/>
              <a:t>Rational actions are not forecasted but approximated, expected </a:t>
            </a:r>
            <a:r>
              <a:rPr lang="en-US" dirty="0" err="1"/>
              <a:t>behaviour</a:t>
            </a:r>
            <a:r>
              <a:rPr lang="en-US" dirty="0"/>
              <a:t> is considered.</a:t>
            </a:r>
            <a:endParaRPr lang="en-US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6" name="Google Shape;146;p20"/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90204"/>
              <a:buNone/>
            </a:pPr>
            <a:r>
              <a:rPr lang="en-US"/>
              <a:t>|</a:t>
            </a:r>
            <a:r>
              <a:rPr lang="en-US" b="0"/>
              <a:t>  </a:t>
            </a:r>
            <a:fld id="{00000000-1234-1234-1234-123412341234}" type="slidenum">
              <a:rPr lang="en-US" b="0"/>
            </a:fld>
            <a:endParaRPr b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1"/>
          <p:cNvSpPr txBox="1">
            <a:spLocks noGrp="1"/>
          </p:cNvSpPr>
          <p:nvPr>
            <p:ph type="title"/>
          </p:nvPr>
        </p:nvSpPr>
        <p:spPr>
          <a:xfrm>
            <a:off x="594303" y="266700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lvl="0"/>
            <a:r>
              <a:rPr lang="en-IN" dirty="0"/>
              <a:t>Operationalizing the Reasoning</a:t>
            </a:r>
            <a:endParaRPr dirty="0"/>
          </a:p>
        </p:txBody>
      </p:sp>
      <p:sp>
        <p:nvSpPr>
          <p:cNvPr id="153" name="Google Shape;153;p21"/>
          <p:cNvSpPr txBox="1">
            <a:spLocks noGrp="1"/>
          </p:cNvSpPr>
          <p:nvPr>
            <p:ph type="body" idx="1"/>
          </p:nvPr>
        </p:nvSpPr>
        <p:spPr>
          <a:xfrm>
            <a:off x="582427" y="1768950"/>
            <a:ext cx="105156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IN" b="1" dirty="0"/>
              <a:t>Algorithm:</a:t>
            </a:r>
            <a:r>
              <a:rPr lang="en-IN" dirty="0"/>
              <a:t> Randomized Greedy (weight ∝ queue length)</a:t>
            </a:r>
            <a:endParaRPr lang="en-IN" dirty="0"/>
          </a:p>
          <a:p>
            <a:r>
              <a:rPr lang="en-IN" b="1" dirty="0"/>
              <a:t>Method:</a:t>
            </a:r>
            <a:r>
              <a:rPr lang="en-IN" dirty="0"/>
              <a:t> Monte Carlo simulation in Python</a:t>
            </a:r>
            <a:endParaRPr lang="en-IN" dirty="0"/>
          </a:p>
          <a:p>
            <a:r>
              <a:rPr lang="en-IN" b="1" dirty="0"/>
              <a:t>Metrics:</a:t>
            </a:r>
            <a:r>
              <a:rPr lang="en-IN" dirty="0"/>
              <a:t> Expected wait, queue trends, PDF/CDF plots</a:t>
            </a:r>
            <a:endParaRPr lang="en-IN" dirty="0"/>
          </a:p>
          <a:p>
            <a:r>
              <a:rPr lang="en-IN" dirty="0"/>
              <a:t>PDF/CDF used to study </a:t>
            </a:r>
            <a:r>
              <a:rPr lang="en-IN" b="1" dirty="0"/>
              <a:t>typical and worst-case</a:t>
            </a:r>
            <a:r>
              <a:rPr lang="en-IN" dirty="0"/>
              <a:t> scenarios</a:t>
            </a:r>
            <a:endParaRPr lang="en-IN" dirty="0"/>
          </a:p>
          <a:p>
            <a:pPr marL="76200" indent="0">
              <a:buNone/>
            </a:pPr>
            <a:br>
              <a:rPr lang="en-IN" dirty="0"/>
            </a:br>
            <a:endParaRPr lang="en-IN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3700" dirty="0"/>
          </a:p>
        </p:txBody>
      </p:sp>
      <p:sp>
        <p:nvSpPr>
          <p:cNvPr id="154" name="Google Shape;154;p21"/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90204"/>
              <a:buNone/>
            </a:pPr>
            <a:r>
              <a:rPr lang="en-US"/>
              <a:t>|</a:t>
            </a:r>
            <a:r>
              <a:rPr lang="en-US" b="0"/>
              <a:t>  </a:t>
            </a:r>
            <a:fld id="{00000000-1234-1234-1234-123412341234}" type="slidenum">
              <a:rPr lang="en-US" b="0"/>
            </a:fld>
            <a:endParaRPr b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2"/>
          <p:cNvSpPr txBox="1">
            <a:spLocks noGrp="1"/>
          </p:cNvSpPr>
          <p:nvPr>
            <p:ph type="title"/>
          </p:nvPr>
        </p:nvSpPr>
        <p:spPr>
          <a:xfrm>
            <a:off x="594303" y="266700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lvl="0"/>
            <a:r>
              <a:rPr lang="en-IN" dirty="0"/>
              <a:t>Current </a:t>
            </a:r>
            <a:r>
              <a:rPr lang="en-US" dirty="0"/>
              <a:t>Limitations</a:t>
            </a:r>
            <a:endParaRPr dirty="0"/>
          </a:p>
        </p:txBody>
      </p:sp>
      <p:sp>
        <p:nvSpPr>
          <p:cNvPr id="161" name="Google Shape;161;p22"/>
          <p:cNvSpPr txBox="1">
            <a:spLocks noGrp="1"/>
          </p:cNvSpPr>
          <p:nvPr>
            <p:ph type="body" idx="1"/>
          </p:nvPr>
        </p:nvSpPr>
        <p:spPr>
          <a:xfrm>
            <a:off x="582427" y="1768950"/>
            <a:ext cx="105156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2800" dirty="0"/>
              <a:t>Poisson assumption is weak on platooning.</a:t>
            </a:r>
            <a:endParaRPr lang="en-US" sz="2800" dirty="0"/>
          </a:p>
          <a:p>
            <a:r>
              <a:rPr lang="en-US" sz="2800" dirty="0"/>
              <a:t>Freedom could interrupt traffic jam.</a:t>
            </a:r>
            <a:endParaRPr lang="en-US" sz="2800" dirty="0"/>
          </a:p>
          <a:p>
            <a:r>
              <a:rPr lang="en-US" sz="2800" dirty="0"/>
              <a:t>No clear fairness/spill back model.</a:t>
            </a:r>
            <a:endParaRPr lang="en-US" sz="2800" dirty="0"/>
          </a:p>
          <a:p>
            <a:r>
              <a:rPr lang="en-US" sz="2800" dirty="0"/>
              <a:t>Extreme surges not proven to be stable.</a:t>
            </a:r>
            <a:endParaRPr lang="en-US" sz="2800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3900" dirty="0"/>
          </a:p>
        </p:txBody>
      </p:sp>
      <p:sp>
        <p:nvSpPr>
          <p:cNvPr id="162" name="Google Shape;162;p22"/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90204"/>
              <a:buNone/>
            </a:pPr>
            <a:r>
              <a:rPr lang="en-US"/>
              <a:t>|</a:t>
            </a:r>
            <a:r>
              <a:rPr lang="en-US" b="0"/>
              <a:t>  </a:t>
            </a:r>
            <a:fld id="{00000000-1234-1234-1234-123412341234}" type="slidenum">
              <a:rPr lang="en-US" b="0"/>
            </a:fld>
            <a:endParaRPr b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3"/>
          <p:cNvSpPr txBox="1">
            <a:spLocks noGrp="1"/>
          </p:cNvSpPr>
          <p:nvPr>
            <p:ph type="title"/>
          </p:nvPr>
        </p:nvSpPr>
        <p:spPr>
          <a:xfrm>
            <a:off x="594303" y="266700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Planned Refinements</a:t>
            </a:r>
            <a:endParaRPr dirty="0"/>
          </a:p>
        </p:txBody>
      </p:sp>
      <p:sp>
        <p:nvSpPr>
          <p:cNvPr id="169" name="Google Shape;169;p23"/>
          <p:cNvSpPr txBox="1">
            <a:spLocks noGrp="1"/>
          </p:cNvSpPr>
          <p:nvPr>
            <p:ph type="body" idx="1"/>
          </p:nvPr>
        </p:nvSpPr>
        <p:spPr>
          <a:xfrm>
            <a:off x="582427" y="1754372"/>
            <a:ext cx="10515600" cy="4795284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/>
            <a:r>
              <a:rPr lang="en-US" dirty="0"/>
              <a:t>Statistically verify assumptions of arrival. </a:t>
            </a:r>
            <a:endParaRPr lang="en-US" dirty="0"/>
          </a:p>
          <a:p>
            <a:pPr lvl="0"/>
            <a:r>
              <a:rPr lang="en-US" dirty="0"/>
              <a:t>Bursty Arrivals Model and Time-varying λ(t).</a:t>
            </a:r>
            <a:endParaRPr lang="en-US" dirty="0"/>
          </a:p>
          <a:p>
            <a:pPr lvl="0"/>
            <a:r>
              <a:rPr lang="en-US" dirty="0"/>
              <a:t>Exceeding congestion risk- use Chernoff bounds. </a:t>
            </a:r>
            <a:endParaRPr lang="en-US" dirty="0"/>
          </a:p>
          <a:p>
            <a:pPr lvl="0"/>
            <a:r>
              <a:rPr lang="en-US" dirty="0"/>
              <a:t>Introduce constraints of fairness and stability.</a:t>
            </a:r>
            <a:endParaRPr lang="en-IN" dirty="0"/>
          </a:p>
        </p:txBody>
      </p:sp>
      <p:sp>
        <p:nvSpPr>
          <p:cNvPr id="170" name="Google Shape;170;p23"/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90204"/>
              <a:buNone/>
            </a:pPr>
            <a:r>
              <a:rPr lang="en-US"/>
              <a:t>|</a:t>
            </a:r>
            <a:r>
              <a:rPr lang="en-US" b="0"/>
              <a:t>  </a:t>
            </a:r>
            <a:fld id="{00000000-1234-1234-1234-123412341234}" type="slidenum">
              <a:rPr lang="en-US" b="0"/>
            </a:fld>
            <a:endParaRPr b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4"/>
          <p:cNvSpPr txBox="1">
            <a:spLocks noGrp="1"/>
          </p:cNvSpPr>
          <p:nvPr>
            <p:ph type="title"/>
          </p:nvPr>
        </p:nvSpPr>
        <p:spPr>
          <a:xfrm>
            <a:off x="594303" y="266700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Summary</a:t>
            </a:r>
            <a:endParaRPr lang="en-US"/>
          </a:p>
        </p:txBody>
      </p:sp>
      <p:sp>
        <p:nvSpPr>
          <p:cNvPr id="177" name="Google Shape;177;p24"/>
          <p:cNvSpPr txBox="1">
            <a:spLocks noGrp="1"/>
          </p:cNvSpPr>
          <p:nvPr>
            <p:ph type="body" idx="1"/>
          </p:nvPr>
        </p:nvSpPr>
        <p:spPr>
          <a:xfrm>
            <a:off x="582427" y="1768950"/>
            <a:ext cx="105156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/>
            <a:r>
              <a:rPr lang="en-US" dirty="0"/>
              <a:t>Traffic congestion is essentially a stochastic control trouble.</a:t>
            </a:r>
            <a:endParaRPr lang="en-US" dirty="0"/>
          </a:p>
          <a:p>
            <a:pPr lvl="0"/>
            <a:r>
              <a:rPr lang="en-US" dirty="0"/>
              <a:t>Fixed-time signals are not successful as they do not take into account variability and uncertainty.</a:t>
            </a:r>
            <a:endParaRPr lang="en-US" dirty="0"/>
          </a:p>
          <a:p>
            <a:pPr lvl="0"/>
            <a:r>
              <a:rPr lang="en-US" dirty="0"/>
              <a:t>Informed adaptive decisions are made by using probabilistic modeling.</a:t>
            </a:r>
            <a:endParaRPr lang="en-US" dirty="0"/>
          </a:p>
          <a:p>
            <a:pPr lvl="0"/>
            <a:r>
              <a:rPr lang="en-US" dirty="0"/>
              <a:t>Randomized control prevents starvation and reacts to congestion.</a:t>
            </a:r>
            <a:endParaRPr lang="en-US" dirty="0"/>
          </a:p>
          <a:p>
            <a:pPr lvl="0"/>
            <a:r>
              <a:rPr lang="en-US" dirty="0"/>
              <a:t>Milestone-2 builds on the concept about modeling distributions to reasoning about system behavior, risk and stability.</a:t>
            </a:r>
            <a:endParaRPr dirty="0"/>
          </a:p>
        </p:txBody>
      </p:sp>
      <p:sp>
        <p:nvSpPr>
          <p:cNvPr id="178" name="Google Shape;178;p24"/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90204"/>
              <a:buNone/>
            </a:pPr>
            <a:r>
              <a:rPr lang="en-US"/>
              <a:t>|</a:t>
            </a:r>
            <a:r>
              <a:rPr lang="en-US" b="0"/>
              <a:t>  </a:t>
            </a:r>
            <a:fld id="{00000000-1234-1234-1234-123412341234}" type="slidenum">
              <a:rPr lang="en-US" b="0"/>
            </a:fld>
            <a:endParaRPr b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Ahmedabad University ">
      <a:dk1>
        <a:srgbClr val="000000"/>
      </a:dk1>
      <a:lt1>
        <a:srgbClr val="FFFFFF"/>
      </a:lt1>
      <a:dk2>
        <a:srgbClr val="7D1916"/>
      </a:dk2>
      <a:lt2>
        <a:srgbClr val="F2F1EE"/>
      </a:lt2>
      <a:accent1>
        <a:srgbClr val="894C00"/>
      </a:accent1>
      <a:accent2>
        <a:srgbClr val="7F4700"/>
      </a:accent2>
      <a:accent3>
        <a:srgbClr val="A5A5A5"/>
      </a:accent3>
      <a:accent4>
        <a:srgbClr val="BC933E"/>
      </a:accent4>
      <a:accent5>
        <a:srgbClr val="000000"/>
      </a:accent5>
      <a:accent6>
        <a:srgbClr val="FEFFFF"/>
      </a:accent6>
      <a:hlink>
        <a:srgbClr val="000000"/>
      </a:hlink>
      <a:folHlink>
        <a:srgbClr val="FEFF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3394</Words>
  <Application>WPS Presentation</Application>
  <PresentationFormat>Widescreen</PresentationFormat>
  <Paragraphs>130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5" baseType="lpstr">
      <vt:lpstr>Arial</vt:lpstr>
      <vt:lpstr>SimSun</vt:lpstr>
      <vt:lpstr>Wingdings</vt:lpstr>
      <vt:lpstr>Arial</vt:lpstr>
      <vt:lpstr>Helvetica Neue</vt:lpstr>
      <vt:lpstr>Helvetica Neue Light</vt:lpstr>
      <vt:lpstr>Calibri</vt:lpstr>
      <vt:lpstr>Helvetica Neue</vt:lpstr>
      <vt:lpstr>DejaVu Math TeX Gyre</vt:lpstr>
      <vt:lpstr>Microsoft YaHei</vt:lpstr>
      <vt:lpstr>汉仪旗黑</vt:lpstr>
      <vt:lpstr>Arial Unicode MS</vt:lpstr>
      <vt:lpstr>Office Theme</vt:lpstr>
      <vt:lpstr>PowerPoint 演示文稿</vt:lpstr>
      <vt:lpstr>Reducing congestion at a 4-way intersection using probabilistic modelling</vt:lpstr>
      <vt:lpstr>Objective and scope of the project</vt:lpstr>
      <vt:lpstr>System Overview</vt:lpstr>
      <vt:lpstr>Sources of Uncertainty</vt:lpstr>
      <vt:lpstr>Key Random Variables</vt:lpstr>
      <vt:lpstr>Probabilistic Models and Assumptions</vt:lpstr>
      <vt:lpstr>Probabilistic Reasoning/Decision Logic</vt:lpstr>
      <vt:lpstr>Operationalizing the Reasoning</vt:lpstr>
      <vt:lpstr>Current Limitations</vt:lpstr>
      <vt:lpstr>Planned Refinements</vt:lpstr>
      <vt:lpstr>Summary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Jayati Shah</dc:creator>
  <cp:lastModifiedBy>Kamya Shah</cp:lastModifiedBy>
  <cp:revision>2</cp:revision>
  <dcterms:created xsi:type="dcterms:W3CDTF">2026-02-19T16:36:35Z</dcterms:created>
  <dcterms:modified xsi:type="dcterms:W3CDTF">2026-02-19T16:36:35Z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0912A3813328850F133C97696470867C_43</vt:lpwstr>
  </property>
  <property fmtid="{D5CDD505-2E9C-101B-9397-08002B2CF9AE}" pid="3" name="KSOProductBuildVer">
    <vt:lpwstr>1033-6.10.1.8203</vt:lpwstr>
  </property>
</Properties>
</file>