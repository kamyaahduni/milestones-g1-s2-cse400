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Helvetica Neue"/>
      <p:regular r:id="rId17"/>
      <p:bold r:id="rId18"/>
      <p:italic r:id="rId19"/>
      <p:boldItalic r:id="rId20"/>
    </p:embeddedFont>
    <p:embeddedFont>
      <p:font typeface="Helvetica Neue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7.xml"/><Relationship Id="rId22" Type="http://schemas.openxmlformats.org/officeDocument/2006/relationships/font" Target="fonts/HelveticaNeueLight-bold.fntdata"/><Relationship Id="rId10" Type="http://schemas.openxmlformats.org/officeDocument/2006/relationships/slide" Target="slides/slide6.xml"/><Relationship Id="rId21" Type="http://schemas.openxmlformats.org/officeDocument/2006/relationships/font" Target="fonts/HelveticaNeueLight-regular.fntdata"/><Relationship Id="rId13" Type="http://schemas.openxmlformats.org/officeDocument/2006/relationships/slide" Target="slides/slide9.xml"/><Relationship Id="rId24" Type="http://schemas.openxmlformats.org/officeDocument/2006/relationships/font" Target="fonts/HelveticaNeueLight-boldItalic.fntdata"/><Relationship Id="rId12" Type="http://schemas.openxmlformats.org/officeDocument/2006/relationships/slide" Target="slides/slide8.xml"/><Relationship Id="rId23" Type="http://schemas.openxmlformats.org/officeDocument/2006/relationships/font" Target="fonts/HelveticaNeue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HelveticaNeue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2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ccc3b655c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ccc3b655c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ccc3b655c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ccc3b655c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ccc3b655c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bccc3b655c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ccc3b655c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ccc3b655c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bccc3b655c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ccc3b655c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ccc3b655c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ccc3b655c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ccc3b655c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ccc3b655c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ccc3b655c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ccc3b655c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ccc3b655c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bccc3b655c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ccc3b655c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ccc3b655c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bccc3b655c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ccc3b655c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ccc3b655c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bccc3b655c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ccc3b655c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ccc3b655c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bccc3b655c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idx="1" type="body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b="0" i="0" sz="20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42109" l="31991" r="32034" t="42025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idx="2" type="body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b="1" i="0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500"/>
              <a:buFont typeface="Helvetica Neue Light"/>
              <a:buNone/>
            </a:pPr>
            <a:r>
              <a:rPr lang="en-US" sz="2900"/>
              <a:t>Section 2</a:t>
            </a:r>
            <a:endParaRPr sz="2900"/>
          </a:p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rPr lang="en-US"/>
              <a:t>Group 1: Intelligent Transportation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838200" y="-844687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/>
              <a:t>Reducing congestion at a 4-way intersection using probabilistic modelling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838200" y="3518938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225" y="2378375"/>
            <a:ext cx="9283400" cy="273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Objective and scope of the project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Our objective is to minimise the waiting time E[W] for the vehicles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rPr lang="en-US"/>
              <a:t>                     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rPr lang="en-US"/>
              <a:t>  Same Timing for green phase no matter  Responds to real time congestion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rPr lang="en-US"/>
              <a:t>the timing                                                                    </a:t>
            </a:r>
            <a:endParaRPr/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158" y="2360983"/>
            <a:ext cx="5213150" cy="230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1501" y="2360975"/>
            <a:ext cx="4623894" cy="2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Overview</a:t>
            </a:r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Observe traffic density / queue length at each approach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Use probabilistic models for: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arrivals (how many cars come)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clearance (how fast queues clear)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Compute weights from queue lengths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Pick next green using weighted randomization (higher congestion → higher chance)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Evaluate performance via simulation (waiting time, queue reduction)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 of Uncertainty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594302" y="21734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Arrival uncertainty: timing + number of vehicles approaching is random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Clearance uncertainty: time to clear depends on variation in vehicle speeds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Rate varies over time (peak vs off-peak) using 𝝀(t)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Sensor/counting noise can affect observed queue estimates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Random Variables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𝑋: number of arrivals in interval 𝑡 (random count)</a:t>
            </a:r>
            <a:br>
              <a:rPr lang="en-US"/>
            </a:b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𝜆(𝑡): time-dependent arrival rate (peak vs off-peak)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𝑉: vehicle speed (random) modeled with Normal distribution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𝐿: queue length per approach (observed/current state)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𝐺: green light time required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Probabilistic Models and Assumptions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Arrivals follow Poisson: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US"/>
              <a:t>𝑃(𝑋=𝑘)=((𝜆𝑡)^𝑘)*𝑒^(−𝜆𝑡)/𝑘!</a:t>
            </a:r>
            <a:br>
              <a:rPr lang="en-US"/>
            </a:br>
            <a:r>
              <a:rPr lang="en-US"/>
              <a:t> 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Vehicle speed follows Normal: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US"/>
              <a:t>𝑉∼𝑁(𝜇,𝜎²)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𝜆(𝑡) changes with time (non-constant arrival rate)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Simplifying assumptions: memoryless arrivals + independent speeds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Probabilistic Reasoning/Decision Logic</a:t>
            </a:r>
            <a:endParaRPr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Use current queues to estimate which direction “needs” green more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Relate green time to clearance: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US"/>
              <a:t>𝐸[𝐺]=𝐸[𝐿] ⁄ </a:t>
            </a:r>
            <a:r>
              <a:rPr lang="en-US"/>
              <a:t>𝐸[𝑉]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Idea: larger queue length → higher expected green needed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Use probability/weights instead of strict rules to avoid always serving the same lane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and Simulation</a:t>
            </a:r>
            <a:endParaRPr/>
          </a:p>
        </p:txBody>
      </p:sp>
      <p:sp>
        <p:nvSpPr>
          <p:cNvPr id="156" name="Google Shape;156;p21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Implemented using Monte Carlo simulation in Python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Generate arrivals using numpy.random.possion</a:t>
            </a:r>
            <a:br>
              <a:rPr lang="en-US">
                <a:solidFill>
                  <a:srgbClr val="188038"/>
                </a:solidFill>
              </a:rPr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Generate speeds using numpy.random.normal</a:t>
            </a:r>
            <a:br>
              <a:rPr lang="en-US">
                <a:solidFill>
                  <a:srgbClr val="188038"/>
                </a:solidFill>
              </a:rPr>
            </a:b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Weighted randomisation: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Helvetica Neue Light"/>
              <a:buChar char="●"/>
            </a:pPr>
            <a:r>
              <a:rPr lang="en-US"/>
              <a:t>probability(lane gets green) ∝ lane density / total density</a:t>
            </a:r>
            <a:br>
              <a:rPr lang="en-US"/>
            </a:br>
            <a:r>
              <a:rPr lang="en-US"/>
              <a:t> scribe (1)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Track outcomes: queue length trends + waiting time improvements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600"/>
              <a:t>Real traffic often arrives in platoons/bursts, so arrivals may be correlated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Helvetica Neue Light"/>
              <a:buChar char="●"/>
            </a:pPr>
            <a:r>
              <a:rPr lang="en-US" sz="2600"/>
              <a:t>Poisson assumption may be weak during heavy upstream signal influence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Helvetica Neue Light"/>
              <a:buChar char="●"/>
            </a:pPr>
            <a:r>
              <a:rPr lang="en-US" sz="2600"/>
              <a:t>Normal speed assumption may not capture extreme behaviors (very slow/very fast)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Helvetica Neue Light"/>
              <a:buChar char="●"/>
            </a:pPr>
            <a:r>
              <a:rPr lang="en-US" sz="2600"/>
              <a:t>Fairness risk: low-density lanes might wait too long without constraints (needs guardrails)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00"/>
          </a:p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Planned Refinements</a:t>
            </a:r>
            <a:endParaRPr/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Improve 𝜆(𝑡) to reflect burstiness/platoons better</a:t>
            </a:r>
            <a:br>
              <a:rPr lang="en-US"/>
            </a:b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Use Markov chains to model switching between congested and free-flow states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Analyze extreme congestion using bounds (e.g., Chernoff bounds)</a:t>
            </a:r>
            <a:br>
              <a:rPr lang="en-US"/>
            </a:br>
            <a:r>
              <a:rPr lang="en-US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Add fairness constraints (max-red time / minimum service probability)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Fixed-time signals are inefficient under random traffic conditions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We model: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arrivals with Poisson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clearance with Normal speeds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time variation with 𝜆(𝑡)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We use weighted randomization to decide green allocation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Next: improve realism (platoons), add fairness, and strengthen theoretical validation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